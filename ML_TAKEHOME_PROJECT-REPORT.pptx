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2"/>
  </p:notesMasterIdLst>
  <p:sldIdLst>
    <p:sldId id="256"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132351-454E-1A48-B42A-DC7063C6F178}" v="114" dt="2026-02-19T17:14:45.364"/>
    <p1510:client id="{FAE7ECCA-25BA-4320-B590-B24275B56522}" v="135" dt="2026-02-19T12:16:49.5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2" autoAdjust="0"/>
    <p:restoredTop sz="94693"/>
  </p:normalViewPr>
  <p:slideViewPr>
    <p:cSldViewPr snapToGrid="0">
      <p:cViewPr varScale="1">
        <p:scale>
          <a:sx n="135" d="100"/>
          <a:sy n="135" d="100"/>
        </p:scale>
        <p:origin x="1296" y="47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A9247-0227-4FEA-AE8B-C745834A5F04}" type="datetimeFigureOut">
              <a:rPr lang="en-US" smtClean="0"/>
              <a:t>2/19/26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C4C901-FD32-4CC2-8884-EAEE75900BF2}" type="slidenum">
              <a:rPr lang="en-US" smtClean="0"/>
              <a:t>‹#›</a:t>
            </a:fld>
            <a:endParaRPr lang="en-US"/>
          </a:p>
        </p:txBody>
      </p:sp>
    </p:spTree>
    <p:extLst>
      <p:ext uri="{BB962C8B-B14F-4D97-AF65-F5344CB8AC3E}">
        <p14:creationId xmlns:p14="http://schemas.microsoft.com/office/powerpoint/2010/main" val="1791791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0F33C-B0B6-AC62-01E2-3BCB48A611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62E481-5543-CBA1-7C1E-2CAC0873E5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576DFD-C65F-5D70-81DB-779337E9AFD2}"/>
              </a:ext>
            </a:extLst>
          </p:cNvPr>
          <p:cNvSpPr>
            <a:spLocks noGrp="1"/>
          </p:cNvSpPr>
          <p:nvPr>
            <p:ph type="dt" sz="half" idx="10"/>
          </p:nvPr>
        </p:nvSpPr>
        <p:spPr/>
        <p:txBody>
          <a:bodyPr/>
          <a:lstStyle/>
          <a:p>
            <a:fld id="{B3307E2E-1774-467C-B403-3AE48179C4A6}" type="datetime1">
              <a:rPr lang="en-US" smtClean="0"/>
              <a:t>2/19/26</a:t>
            </a:fld>
            <a:endParaRPr lang="en-US"/>
          </a:p>
        </p:txBody>
      </p:sp>
      <p:sp>
        <p:nvSpPr>
          <p:cNvPr id="5" name="Footer Placeholder 4">
            <a:extLst>
              <a:ext uri="{FF2B5EF4-FFF2-40B4-BE49-F238E27FC236}">
                <a16:creationId xmlns:a16="http://schemas.microsoft.com/office/drawing/2014/main" id="{F15E9037-371C-AE10-A7AF-EC38967B0160}"/>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dirty="0"/>
          </a:p>
        </p:txBody>
      </p:sp>
      <p:sp>
        <p:nvSpPr>
          <p:cNvPr id="6" name="Slide Number Placeholder 5">
            <a:extLst>
              <a:ext uri="{FF2B5EF4-FFF2-40B4-BE49-F238E27FC236}">
                <a16:creationId xmlns:a16="http://schemas.microsoft.com/office/drawing/2014/main" id="{C7328C26-693E-611B-2495-EC296F246E1A}"/>
              </a:ext>
            </a:extLst>
          </p:cNvPr>
          <p:cNvSpPr>
            <a:spLocks noGrp="1"/>
          </p:cNvSpPr>
          <p:nvPr>
            <p:ph type="sldNum" sz="quarter" idx="12"/>
          </p:nvPr>
        </p:nvSpPr>
        <p:spPr/>
        <p:txBody>
          <a:bodyPr/>
          <a:lstStyle/>
          <a:p>
            <a:fld id="{ACF67F9B-24B2-4C3B-9DFF-0BBDBF735F65}" type="slidenum">
              <a:rPr lang="en-US" smtClean="0"/>
              <a:t>‹#›</a:t>
            </a:fld>
            <a:endParaRPr lang="en-US"/>
          </a:p>
        </p:txBody>
      </p:sp>
      <p:pic>
        <p:nvPicPr>
          <p:cNvPr id="7" name="Picture 2">
            <a:extLst>
              <a:ext uri="{FF2B5EF4-FFF2-40B4-BE49-F238E27FC236}">
                <a16:creationId xmlns:a16="http://schemas.microsoft.com/office/drawing/2014/main" id="{B66C953D-B253-2483-43E4-D8693AB286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054528" y="149141"/>
            <a:ext cx="1996573" cy="531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108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6B31-5035-1BFB-7E74-F7F014F06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8E2DD-64C9-6030-517D-F33E6EA9C7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22CA7-162B-BCEB-8E1E-639F94FEA377}"/>
              </a:ext>
            </a:extLst>
          </p:cNvPr>
          <p:cNvSpPr>
            <a:spLocks noGrp="1"/>
          </p:cNvSpPr>
          <p:nvPr>
            <p:ph type="dt" sz="half" idx="10"/>
          </p:nvPr>
        </p:nvSpPr>
        <p:spPr/>
        <p:txBody>
          <a:bodyPr/>
          <a:lstStyle/>
          <a:p>
            <a:fld id="{8FC851F7-5946-483B-A938-DDECB56E4D76}" type="datetime1">
              <a:rPr lang="en-US" smtClean="0"/>
              <a:t>2/19/26</a:t>
            </a:fld>
            <a:endParaRPr lang="en-US"/>
          </a:p>
        </p:txBody>
      </p:sp>
      <p:sp>
        <p:nvSpPr>
          <p:cNvPr id="5" name="Footer Placeholder 4">
            <a:extLst>
              <a:ext uri="{FF2B5EF4-FFF2-40B4-BE49-F238E27FC236}">
                <a16:creationId xmlns:a16="http://schemas.microsoft.com/office/drawing/2014/main" id="{59E0AAC8-7473-752C-8DA5-72E623452FA5}"/>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6" name="Slide Number Placeholder 5">
            <a:extLst>
              <a:ext uri="{FF2B5EF4-FFF2-40B4-BE49-F238E27FC236}">
                <a16:creationId xmlns:a16="http://schemas.microsoft.com/office/drawing/2014/main" id="{A9B2BB00-D86A-8724-DC55-FD049672D9F4}"/>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4064289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4328-ED73-7FCA-C229-244FFD64BE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D69A18-7249-A048-45C9-985B1D6B90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84E240-1157-A4EC-1ABA-DE025C964B73}"/>
              </a:ext>
            </a:extLst>
          </p:cNvPr>
          <p:cNvSpPr>
            <a:spLocks noGrp="1"/>
          </p:cNvSpPr>
          <p:nvPr>
            <p:ph type="dt" sz="half" idx="10"/>
          </p:nvPr>
        </p:nvSpPr>
        <p:spPr/>
        <p:txBody>
          <a:bodyPr/>
          <a:lstStyle/>
          <a:p>
            <a:fld id="{A4554186-4591-402F-AB73-3D0DB6703B65}" type="datetime1">
              <a:rPr lang="en-US" smtClean="0"/>
              <a:t>2/19/26</a:t>
            </a:fld>
            <a:endParaRPr lang="en-US"/>
          </a:p>
        </p:txBody>
      </p:sp>
      <p:sp>
        <p:nvSpPr>
          <p:cNvPr id="5" name="Footer Placeholder 4">
            <a:extLst>
              <a:ext uri="{FF2B5EF4-FFF2-40B4-BE49-F238E27FC236}">
                <a16:creationId xmlns:a16="http://schemas.microsoft.com/office/drawing/2014/main" id="{2CBBC77D-A63A-835B-A992-CA70196A1008}"/>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6" name="Slide Number Placeholder 5">
            <a:extLst>
              <a:ext uri="{FF2B5EF4-FFF2-40B4-BE49-F238E27FC236}">
                <a16:creationId xmlns:a16="http://schemas.microsoft.com/office/drawing/2014/main" id="{C80668FD-F0D6-EA6C-65B4-B922260E987F}"/>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520694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B635-3CC0-9F9E-7182-7F213768DE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6502C-FC3C-A303-B1FD-EC362B4053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896E34-0277-7347-FE23-70D87776B0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5E59E4-C613-1046-D67D-853B779CE10F}"/>
              </a:ext>
            </a:extLst>
          </p:cNvPr>
          <p:cNvSpPr>
            <a:spLocks noGrp="1"/>
          </p:cNvSpPr>
          <p:nvPr>
            <p:ph type="dt" sz="half" idx="10"/>
          </p:nvPr>
        </p:nvSpPr>
        <p:spPr/>
        <p:txBody>
          <a:bodyPr/>
          <a:lstStyle/>
          <a:p>
            <a:fld id="{C01D098E-C7F7-4474-B913-3547D7D186B4}" type="datetime1">
              <a:rPr lang="en-US" smtClean="0"/>
              <a:t>2/19/26</a:t>
            </a:fld>
            <a:endParaRPr lang="en-US"/>
          </a:p>
        </p:txBody>
      </p:sp>
      <p:sp>
        <p:nvSpPr>
          <p:cNvPr id="6" name="Footer Placeholder 5">
            <a:extLst>
              <a:ext uri="{FF2B5EF4-FFF2-40B4-BE49-F238E27FC236}">
                <a16:creationId xmlns:a16="http://schemas.microsoft.com/office/drawing/2014/main" id="{B97777F8-48EB-4C52-40CA-92B3A069AA9A}"/>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p>
        </p:txBody>
      </p:sp>
      <p:sp>
        <p:nvSpPr>
          <p:cNvPr id="7" name="Slide Number Placeholder 6">
            <a:extLst>
              <a:ext uri="{FF2B5EF4-FFF2-40B4-BE49-F238E27FC236}">
                <a16:creationId xmlns:a16="http://schemas.microsoft.com/office/drawing/2014/main" id="{71263E22-E9E8-2525-3A4B-7C2C4A3E45A7}"/>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125148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186F-057D-7533-F161-F43BB56046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2B3311-C7D5-E149-7D52-E8BB829D15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0E6521-5D72-93A2-B423-F199EAA0A7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B90D40-78FA-2728-6D85-A3E4F4A3D9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04FE3E-DF1C-39A5-ECDD-6A67B3CF52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00EE6-B7C0-E308-D0BA-18C50DB70015}"/>
              </a:ext>
            </a:extLst>
          </p:cNvPr>
          <p:cNvSpPr>
            <a:spLocks noGrp="1"/>
          </p:cNvSpPr>
          <p:nvPr>
            <p:ph type="dt" sz="half" idx="10"/>
          </p:nvPr>
        </p:nvSpPr>
        <p:spPr/>
        <p:txBody>
          <a:bodyPr/>
          <a:lstStyle/>
          <a:p>
            <a:fld id="{4DCCF559-6A1D-418F-B252-6DC53087A765}" type="datetime1">
              <a:rPr lang="en-US" smtClean="0"/>
              <a:t>2/19/26</a:t>
            </a:fld>
            <a:endParaRPr lang="en-US"/>
          </a:p>
        </p:txBody>
      </p:sp>
      <p:sp>
        <p:nvSpPr>
          <p:cNvPr id="8" name="Footer Placeholder 7">
            <a:extLst>
              <a:ext uri="{FF2B5EF4-FFF2-40B4-BE49-F238E27FC236}">
                <a16:creationId xmlns:a16="http://schemas.microsoft.com/office/drawing/2014/main" id="{D68760AB-3AA3-5160-BCD0-9964FCE31935}"/>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9" name="Slide Number Placeholder 8">
            <a:extLst>
              <a:ext uri="{FF2B5EF4-FFF2-40B4-BE49-F238E27FC236}">
                <a16:creationId xmlns:a16="http://schemas.microsoft.com/office/drawing/2014/main" id="{C4E29C19-B731-7140-ED55-9121254AC9D9}"/>
              </a:ext>
            </a:extLst>
          </p:cNvPr>
          <p:cNvSpPr>
            <a:spLocks noGrp="1"/>
          </p:cNvSpPr>
          <p:nvPr>
            <p:ph type="sldNum" sz="quarter" idx="12"/>
          </p:nvPr>
        </p:nvSpPr>
        <p:spPr/>
        <p:txBody>
          <a:bodyPr/>
          <a:lstStyle/>
          <a:p>
            <a:fld id="{ACF67F9B-24B2-4C3B-9DFF-0BBDBF735F65}" type="slidenum">
              <a:rPr lang="en-US" smtClean="0"/>
              <a:t>‹#›</a:t>
            </a:fld>
            <a:endParaRPr lang="en-US" dirty="0"/>
          </a:p>
        </p:txBody>
      </p:sp>
    </p:spTree>
    <p:extLst>
      <p:ext uri="{BB962C8B-B14F-4D97-AF65-F5344CB8AC3E}">
        <p14:creationId xmlns:p14="http://schemas.microsoft.com/office/powerpoint/2010/main" val="3963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435CA-99AE-72BD-87FB-1CAD01611F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776EE8-94B2-82BE-5B0B-CFCEBA386FB7}"/>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354467F5-D398-D27A-1761-061FC1753157}"/>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CD1BC870-21AB-EB9F-0616-F0A920617A7A}"/>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2341719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46C732-C6F1-492B-AC63-22713011DA57}"/>
              </a:ext>
            </a:extLst>
          </p:cNvPr>
          <p:cNvSpPr>
            <a:spLocks noGrp="1"/>
          </p:cNvSpPr>
          <p:nvPr>
            <p:ph type="dt" sz="half" idx="10"/>
          </p:nvPr>
        </p:nvSpPr>
        <p:spPr/>
        <p:txBody>
          <a:bodyPr/>
          <a:lstStyle/>
          <a:p>
            <a:fld id="{29054E33-380E-4135-9A0F-6727C76882E3}" type="datetime1">
              <a:rPr lang="en-US" smtClean="0"/>
              <a:t>2/19/26</a:t>
            </a:fld>
            <a:endParaRPr lang="en-US"/>
          </a:p>
        </p:txBody>
      </p:sp>
      <p:sp>
        <p:nvSpPr>
          <p:cNvPr id="3" name="Footer Placeholder 2">
            <a:extLst>
              <a:ext uri="{FF2B5EF4-FFF2-40B4-BE49-F238E27FC236}">
                <a16:creationId xmlns:a16="http://schemas.microsoft.com/office/drawing/2014/main" id="{02B3A140-0BE2-DBB4-448B-2142B7574853}"/>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4" name="Slide Number Placeholder 3">
            <a:extLst>
              <a:ext uri="{FF2B5EF4-FFF2-40B4-BE49-F238E27FC236}">
                <a16:creationId xmlns:a16="http://schemas.microsoft.com/office/drawing/2014/main" id="{A39A1F0E-4EEB-9270-A4D7-97DE0836C609}"/>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118194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749D-27DD-D097-AB73-E301CB685A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E1E453-C0A0-562F-DF2C-4FF86C86DD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63DD95-808E-4C83-F28D-0757AF4197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2C89B3-943D-1D99-DBBB-B535B0B6AEE5}"/>
              </a:ext>
            </a:extLst>
          </p:cNvPr>
          <p:cNvSpPr>
            <a:spLocks noGrp="1"/>
          </p:cNvSpPr>
          <p:nvPr>
            <p:ph type="dt" sz="half" idx="10"/>
          </p:nvPr>
        </p:nvSpPr>
        <p:spPr/>
        <p:txBody>
          <a:bodyPr/>
          <a:lstStyle/>
          <a:p>
            <a:fld id="{B2246B5B-0A96-4F18-9C0E-6516B2E9528A}" type="datetime1">
              <a:rPr lang="en-US" smtClean="0"/>
              <a:t>2/19/26</a:t>
            </a:fld>
            <a:endParaRPr lang="en-US"/>
          </a:p>
        </p:txBody>
      </p:sp>
      <p:sp>
        <p:nvSpPr>
          <p:cNvPr id="6" name="Footer Placeholder 5">
            <a:extLst>
              <a:ext uri="{FF2B5EF4-FFF2-40B4-BE49-F238E27FC236}">
                <a16:creationId xmlns:a16="http://schemas.microsoft.com/office/drawing/2014/main" id="{320BA931-E6D3-E972-B688-26D42DDF8F87}"/>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7" name="Slide Number Placeholder 6">
            <a:extLst>
              <a:ext uri="{FF2B5EF4-FFF2-40B4-BE49-F238E27FC236}">
                <a16:creationId xmlns:a16="http://schemas.microsoft.com/office/drawing/2014/main" id="{E1437883-FDBA-A486-4364-322B0BF3DBBA}"/>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206174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2AB1F-5888-3AE0-2CFE-D70D21165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89A612-336F-3E5B-4C75-8C20EBF3B0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5622EE-091C-6083-4844-4886985537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378C7-FDF2-6961-CE04-14486B5EBEAA}"/>
              </a:ext>
            </a:extLst>
          </p:cNvPr>
          <p:cNvSpPr>
            <a:spLocks noGrp="1"/>
          </p:cNvSpPr>
          <p:nvPr>
            <p:ph type="dt" sz="half" idx="10"/>
          </p:nvPr>
        </p:nvSpPr>
        <p:spPr/>
        <p:txBody>
          <a:bodyPr/>
          <a:lstStyle/>
          <a:p>
            <a:fld id="{81091735-B419-446B-89FD-1179DD57AD49}" type="datetime1">
              <a:rPr lang="en-US" smtClean="0"/>
              <a:t>2/19/26</a:t>
            </a:fld>
            <a:endParaRPr lang="en-US"/>
          </a:p>
        </p:txBody>
      </p:sp>
      <p:sp>
        <p:nvSpPr>
          <p:cNvPr id="6" name="Footer Placeholder 5">
            <a:extLst>
              <a:ext uri="{FF2B5EF4-FFF2-40B4-BE49-F238E27FC236}">
                <a16:creationId xmlns:a16="http://schemas.microsoft.com/office/drawing/2014/main" id="{1ACE0F61-D786-4EFB-0309-69B92FFFFF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Slide Number Placeholder 6">
            <a:extLst>
              <a:ext uri="{FF2B5EF4-FFF2-40B4-BE49-F238E27FC236}">
                <a16:creationId xmlns:a16="http://schemas.microsoft.com/office/drawing/2014/main" id="{3A07E32C-23B4-F03F-8506-7ED885DE957A}"/>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3231381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E4706-41E2-5209-4C55-0B648AAC99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409512-4AD6-016C-0C09-B8A8228468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B2E99-63D9-37BF-8DAC-477980A703C0}"/>
              </a:ext>
            </a:extLst>
          </p:cNvPr>
          <p:cNvSpPr>
            <a:spLocks noGrp="1"/>
          </p:cNvSpPr>
          <p:nvPr>
            <p:ph type="dt" sz="half" idx="10"/>
          </p:nvPr>
        </p:nvSpPr>
        <p:spPr/>
        <p:txBody>
          <a:bodyPr/>
          <a:lstStyle/>
          <a:p>
            <a:fld id="{EC1274D0-D01D-401C-9851-76B9506884DD}" type="datetime1">
              <a:rPr lang="en-US" smtClean="0"/>
              <a:t>2/19/26</a:t>
            </a:fld>
            <a:endParaRPr lang="en-US"/>
          </a:p>
        </p:txBody>
      </p:sp>
      <p:sp>
        <p:nvSpPr>
          <p:cNvPr id="5" name="Footer Placeholder 4">
            <a:extLst>
              <a:ext uri="{FF2B5EF4-FFF2-40B4-BE49-F238E27FC236}">
                <a16:creationId xmlns:a16="http://schemas.microsoft.com/office/drawing/2014/main" id="{0D2D9B9D-4331-D03B-77EC-E355777AA6AD}"/>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6" name="Slide Number Placeholder 5">
            <a:extLst>
              <a:ext uri="{FF2B5EF4-FFF2-40B4-BE49-F238E27FC236}">
                <a16:creationId xmlns:a16="http://schemas.microsoft.com/office/drawing/2014/main" id="{2B810273-D904-02E7-23B8-D612A7580FE9}"/>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397991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9D067-A420-C708-D9DD-BD595564B3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EFA72C-3277-B782-075A-D87B2FB71F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F40F87-7EA9-8D72-8599-23E8A3C02925}"/>
              </a:ext>
            </a:extLst>
          </p:cNvPr>
          <p:cNvSpPr>
            <a:spLocks noGrp="1"/>
          </p:cNvSpPr>
          <p:nvPr>
            <p:ph type="dt" sz="half" idx="10"/>
          </p:nvPr>
        </p:nvSpPr>
        <p:spPr/>
        <p:txBody>
          <a:bodyPr/>
          <a:lstStyle/>
          <a:p>
            <a:fld id="{297970D7-EC3C-464B-BB7F-1B62D7EED496}" type="datetime1">
              <a:rPr lang="en-US" smtClean="0"/>
              <a:t>2/19/26</a:t>
            </a:fld>
            <a:endParaRPr lang="en-US"/>
          </a:p>
        </p:txBody>
      </p:sp>
      <p:sp>
        <p:nvSpPr>
          <p:cNvPr id="5" name="Footer Placeholder 4">
            <a:extLst>
              <a:ext uri="{FF2B5EF4-FFF2-40B4-BE49-F238E27FC236}">
                <a16:creationId xmlns:a16="http://schemas.microsoft.com/office/drawing/2014/main" id="{B10998C7-1A7B-04AF-34F7-D4C3180F835C}"/>
              </a:ext>
            </a:extLst>
          </p:cNvPr>
          <p:cNvSpPr>
            <a:spLocks noGrp="1"/>
          </p:cNvSpPr>
          <p:nvPr>
            <p:ph type="ftr" sz="quarter" idx="11"/>
          </p:nvPr>
        </p:nvSpPr>
        <p:spPr/>
        <p:txBody>
          <a:bodyPr/>
          <a:lstStyle>
            <a:lvl1pPr>
              <a:defRPr>
                <a:solidFill>
                  <a:schemeClr val="tx1"/>
                </a:solidFill>
              </a:defRPr>
            </a:lvl1pPr>
          </a:lstStyle>
          <a:p>
            <a:r>
              <a:rPr lang="en-US"/>
              <a:t>Income Classification ML Project | Edison E Chukwuemeka</a:t>
            </a:r>
            <a:endParaRPr lang="en-US" sz="1100" dirty="0"/>
          </a:p>
        </p:txBody>
      </p:sp>
      <p:sp>
        <p:nvSpPr>
          <p:cNvPr id="6" name="Slide Number Placeholder 5">
            <a:extLst>
              <a:ext uri="{FF2B5EF4-FFF2-40B4-BE49-F238E27FC236}">
                <a16:creationId xmlns:a16="http://schemas.microsoft.com/office/drawing/2014/main" id="{77CAA92B-4E8D-D6FB-39FB-79163E8DC841}"/>
              </a:ext>
            </a:extLst>
          </p:cNvPr>
          <p:cNvSpPr>
            <a:spLocks noGrp="1"/>
          </p:cNvSpPr>
          <p:nvPr>
            <p:ph type="sldNum" sz="quarter" idx="12"/>
          </p:nvPr>
        </p:nvSpPr>
        <p:spPr/>
        <p:txBody>
          <a:bodyPr/>
          <a:lstStyle/>
          <a:p>
            <a:fld id="{ACF67F9B-24B2-4C3B-9DFF-0BBDBF735F65}" type="slidenum">
              <a:rPr lang="en-US" smtClean="0"/>
              <a:t>‹#›</a:t>
            </a:fld>
            <a:endParaRPr lang="en-US"/>
          </a:p>
        </p:txBody>
      </p:sp>
    </p:spTree>
    <p:extLst>
      <p:ext uri="{BB962C8B-B14F-4D97-AF65-F5344CB8AC3E}">
        <p14:creationId xmlns:p14="http://schemas.microsoft.com/office/powerpoint/2010/main" val="355884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BA98A7-41B4-D8A9-EEAB-F856AC8081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DB68C1-E7A7-9F9D-FB33-186477093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E243D-EAFC-B779-E6E6-5CBFD5DF82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F181C6-F169-40FE-9629-72FA9761D9BF}" type="datetime1">
              <a:rPr lang="en-US" smtClean="0"/>
              <a:t>2/19/26</a:t>
            </a:fld>
            <a:endParaRPr lang="en-US" dirty="0">
              <a:solidFill>
                <a:schemeClr val="bg1"/>
              </a:solidFill>
            </a:endParaRPr>
          </a:p>
        </p:txBody>
      </p:sp>
      <p:sp>
        <p:nvSpPr>
          <p:cNvPr id="5" name="Footer Placeholder 4">
            <a:extLst>
              <a:ext uri="{FF2B5EF4-FFF2-40B4-BE49-F238E27FC236}">
                <a16:creationId xmlns:a16="http://schemas.microsoft.com/office/drawing/2014/main" id="{BEC595F4-FCAC-1277-0651-E80CAECC4D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a:t>Income Classification ML Project | Edison E Chukwuemeka</a:t>
            </a:r>
            <a:endParaRPr lang="en-US" sz="2800" dirty="0"/>
          </a:p>
        </p:txBody>
      </p:sp>
      <p:sp>
        <p:nvSpPr>
          <p:cNvPr id="6" name="Slide Number Placeholder 5">
            <a:extLst>
              <a:ext uri="{FF2B5EF4-FFF2-40B4-BE49-F238E27FC236}">
                <a16:creationId xmlns:a16="http://schemas.microsoft.com/office/drawing/2014/main" id="{B617F5BA-B6FA-F8DE-E266-5071E735EE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F67F9B-24B2-4C3B-9DFF-0BBDBF735F65}" type="slidenum">
              <a:rPr lang="en-US" smtClean="0"/>
              <a:t>‹#›</a:t>
            </a:fld>
            <a:endParaRPr lang="en-US" dirty="0"/>
          </a:p>
        </p:txBody>
      </p:sp>
      <p:pic>
        <p:nvPicPr>
          <p:cNvPr id="7" name="Picture 2">
            <a:extLst>
              <a:ext uri="{FF2B5EF4-FFF2-40B4-BE49-F238E27FC236}">
                <a16:creationId xmlns:a16="http://schemas.microsoft.com/office/drawing/2014/main" id="{3F7D6CFC-D137-279F-91A1-456B8C5A5A1A}"/>
              </a:ext>
            </a:extLst>
          </p:cNvPr>
          <p:cNvPicPr>
            <a:picLocks noChangeAspect="1" noChangeArrowheads="1"/>
          </p:cNvPicPr>
          <p:nvPr userDrawn="1"/>
        </p:nvPicPr>
        <p:blipFill>
          <a:blip r:embed="rId13">
            <a:alphaModFix/>
            <a:extLst>
              <a:ext uri="{28A0092B-C50C-407E-A947-70E740481C1C}">
                <a14:useLocalDpi xmlns:a14="http://schemas.microsoft.com/office/drawing/2010/main" val="0"/>
              </a:ext>
            </a:extLst>
          </a:blip>
          <a:srcRect/>
          <a:stretch>
            <a:fillRect/>
          </a:stretch>
        </p:blipFill>
        <p:spPr bwMode="auto">
          <a:xfrm>
            <a:off x="10054528" y="149141"/>
            <a:ext cx="1996573" cy="531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2185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scikit-learn.org/stable/modules/clustering.html#k-means" TargetMode="External"/><Relationship Id="rId2" Type="http://schemas.openxmlformats.org/officeDocument/2006/relationships/hyperlink" Target="https://pypi.org/project/kmodes/#citation-reference-2" TargetMode="External"/><Relationship Id="rId1" Type="http://schemas.openxmlformats.org/officeDocument/2006/relationships/slideLayout" Target="../slideLayouts/slideLayout6.xml"/><Relationship Id="rId5" Type="http://schemas.openxmlformats.org/officeDocument/2006/relationships/hyperlink" Target="https://github.com/dmlc/xgboost" TargetMode="External"/><Relationship Id="rId4" Type="http://schemas.openxmlformats.org/officeDocument/2006/relationships/hyperlink" Target="https://scikit-learn.org/stable/supervised_learning.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02EF-6234-2647-39E2-D5A9DBB01E97}"/>
              </a:ext>
            </a:extLst>
          </p:cNvPr>
          <p:cNvSpPr>
            <a:spLocks noGrp="1"/>
          </p:cNvSpPr>
          <p:nvPr>
            <p:ph type="ctrTitle"/>
          </p:nvPr>
        </p:nvSpPr>
        <p:spPr>
          <a:xfrm>
            <a:off x="927515" y="666137"/>
            <a:ext cx="10580380" cy="2262781"/>
          </a:xfrm>
        </p:spPr>
        <p:txBody>
          <a:bodyPr>
            <a:noAutofit/>
          </a:bodyPr>
          <a:lstStyle/>
          <a:p>
            <a:pPr algn="ctr"/>
            <a:r>
              <a:rPr lang="en-US" sz="6000" dirty="0">
                <a:ln w="0"/>
                <a:effectLst>
                  <a:outerShdw blurRad="38100" dist="25400" dir="5400000" algn="ctr" rotWithShape="0">
                    <a:srgbClr val="6E747A">
                      <a:alpha val="43000"/>
                    </a:srgbClr>
                  </a:outerShdw>
                </a:effectLst>
              </a:rPr>
              <a:t>Income Classification &amp; Customer Segmentation</a:t>
            </a:r>
          </a:p>
        </p:txBody>
      </p:sp>
      <p:sp>
        <p:nvSpPr>
          <p:cNvPr id="3" name="Subtitle 2">
            <a:extLst>
              <a:ext uri="{FF2B5EF4-FFF2-40B4-BE49-F238E27FC236}">
                <a16:creationId xmlns:a16="http://schemas.microsoft.com/office/drawing/2014/main" id="{F51263F0-ED6E-5EE6-ED89-7DA2F9818EA9}"/>
              </a:ext>
            </a:extLst>
          </p:cNvPr>
          <p:cNvSpPr>
            <a:spLocks noGrp="1"/>
          </p:cNvSpPr>
          <p:nvPr>
            <p:ph type="subTitle" idx="1"/>
          </p:nvPr>
        </p:nvSpPr>
        <p:spPr>
          <a:xfrm>
            <a:off x="2019354" y="3086231"/>
            <a:ext cx="8915399" cy="1126283"/>
          </a:xfrm>
        </p:spPr>
        <p:txBody>
          <a:bodyPr/>
          <a:lstStyle/>
          <a:p>
            <a:pPr algn="ctr"/>
            <a:r>
              <a:rPr lang="en-US" dirty="0">
                <a:ln w="0"/>
                <a:effectLst>
                  <a:outerShdw blurRad="38100" dist="25400" dir="5400000" algn="ctr" rotWithShape="0">
                    <a:srgbClr val="6E747A">
                      <a:alpha val="43000"/>
                    </a:srgbClr>
                  </a:outerShdw>
                </a:effectLst>
              </a:rPr>
              <a:t>A Machine Learning Approach to Retail Marketing Targeting</a:t>
            </a:r>
          </a:p>
          <a:p>
            <a:pPr algn="ctr"/>
            <a:r>
              <a:rPr lang="en-US" dirty="0">
                <a:ln w="0"/>
                <a:effectLst>
                  <a:outerShdw blurRad="38100" dist="25400" dir="5400000" algn="ctr" rotWithShape="0">
                    <a:srgbClr val="6E747A">
                      <a:alpha val="43000"/>
                    </a:srgbClr>
                  </a:outerShdw>
                </a:effectLst>
              </a:rPr>
              <a:t>Edison E Chukwuemeka</a:t>
            </a:r>
          </a:p>
        </p:txBody>
      </p:sp>
      <p:sp>
        <p:nvSpPr>
          <p:cNvPr id="4" name="Date Placeholder 3">
            <a:extLst>
              <a:ext uri="{FF2B5EF4-FFF2-40B4-BE49-F238E27FC236}">
                <a16:creationId xmlns:a16="http://schemas.microsoft.com/office/drawing/2014/main" id="{6350C46E-CD0D-65DF-2A22-0ADF6F28E813}"/>
              </a:ext>
            </a:extLst>
          </p:cNvPr>
          <p:cNvSpPr>
            <a:spLocks noGrp="1"/>
          </p:cNvSpPr>
          <p:nvPr>
            <p:ph type="dt" sz="half" idx="10"/>
          </p:nvPr>
        </p:nvSpPr>
        <p:spPr/>
        <p:txBody>
          <a:bodyPr/>
          <a:lstStyle/>
          <a:p>
            <a:fld id="{846C9EC8-C3FE-45FA-83E2-A95B4FC980DA}" type="datetime1">
              <a:rPr lang="en-US" smtClean="0"/>
              <a:t>2/19/26</a:t>
            </a:fld>
            <a:endParaRPr lang="en-US"/>
          </a:p>
        </p:txBody>
      </p:sp>
      <p:sp>
        <p:nvSpPr>
          <p:cNvPr id="16" name="Footer Placeholder 15">
            <a:extLst>
              <a:ext uri="{FF2B5EF4-FFF2-40B4-BE49-F238E27FC236}">
                <a16:creationId xmlns:a16="http://schemas.microsoft.com/office/drawing/2014/main" id="{9053D17F-2A0F-E04E-0398-5E2C9B7BDBCB}"/>
              </a:ext>
            </a:extLst>
          </p:cNvPr>
          <p:cNvSpPr>
            <a:spLocks noGrp="1"/>
          </p:cNvSpPr>
          <p:nvPr>
            <p:ph type="ftr" sz="quarter" idx="11"/>
          </p:nvPr>
        </p:nvSpPr>
        <p:spPr/>
        <p:txBody>
          <a:bodyPr/>
          <a:lstStyle/>
          <a:p>
            <a:r>
              <a:rPr lang="en-US" dirty="0">
                <a:solidFill>
                  <a:schemeClr val="tx1"/>
                </a:solidFill>
              </a:rPr>
              <a:t>Income Classification ML Project | Edison E Chukwuemeka</a:t>
            </a:r>
          </a:p>
        </p:txBody>
      </p:sp>
      <p:sp>
        <p:nvSpPr>
          <p:cNvPr id="17" name="Slide Number Placeholder 16">
            <a:extLst>
              <a:ext uri="{FF2B5EF4-FFF2-40B4-BE49-F238E27FC236}">
                <a16:creationId xmlns:a16="http://schemas.microsoft.com/office/drawing/2014/main" id="{D81EE235-D310-0FF5-BA5F-26169FF9E31E}"/>
              </a:ext>
            </a:extLst>
          </p:cNvPr>
          <p:cNvSpPr>
            <a:spLocks noGrp="1"/>
          </p:cNvSpPr>
          <p:nvPr>
            <p:ph type="sldNum" sz="quarter" idx="12"/>
          </p:nvPr>
        </p:nvSpPr>
        <p:spPr/>
        <p:txBody>
          <a:bodyPr/>
          <a:lstStyle/>
          <a:p>
            <a:fld id="{ACF67F9B-24B2-4C3B-9DFF-0BBDBF735F65}" type="slidenum">
              <a:rPr lang="en-US" smtClean="0"/>
              <a:t>1</a:t>
            </a:fld>
            <a:endParaRPr lang="en-US"/>
          </a:p>
        </p:txBody>
      </p:sp>
      <p:grpSp>
        <p:nvGrpSpPr>
          <p:cNvPr id="15" name="Group 14">
            <a:extLst>
              <a:ext uri="{FF2B5EF4-FFF2-40B4-BE49-F238E27FC236}">
                <a16:creationId xmlns:a16="http://schemas.microsoft.com/office/drawing/2014/main" id="{55E9F4B6-A6E3-5FA6-85DC-0FCE1BF73CA0}"/>
              </a:ext>
            </a:extLst>
          </p:cNvPr>
          <p:cNvGrpSpPr/>
          <p:nvPr/>
        </p:nvGrpSpPr>
        <p:grpSpPr>
          <a:xfrm>
            <a:off x="2362253" y="4820263"/>
            <a:ext cx="8229600" cy="1371600"/>
            <a:chOff x="2344994" y="5266393"/>
            <a:chExt cx="8229600" cy="1371600"/>
          </a:xfrm>
          <a:solidFill>
            <a:schemeClr val="bg2">
              <a:lumMod val="90000"/>
            </a:schemeClr>
          </a:solidFill>
        </p:grpSpPr>
        <p:sp useBgFill="1">
          <p:nvSpPr>
            <p:cNvPr id="6" name="Text 5">
              <a:extLst>
                <a:ext uri="{FF2B5EF4-FFF2-40B4-BE49-F238E27FC236}">
                  <a16:creationId xmlns:a16="http://schemas.microsoft.com/office/drawing/2014/main" id="{54B0FEB5-CADC-EC90-6D9D-E6550BB68C71}"/>
                </a:ext>
              </a:extLst>
            </p:cNvPr>
            <p:cNvSpPr/>
            <p:nvPr/>
          </p:nvSpPr>
          <p:spPr>
            <a:xfrm>
              <a:off x="2344994" y="5266393"/>
              <a:ext cx="1920240" cy="5029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2200" b="1" dirty="0">
                  <a:ln w="0"/>
                  <a:solidFill>
                    <a:schemeClr val="tx1"/>
                  </a:solidFill>
                </a:rPr>
                <a:t>199,523</a:t>
              </a:r>
            </a:p>
          </p:txBody>
        </p:sp>
        <p:sp useBgFill="1">
          <p:nvSpPr>
            <p:cNvPr id="7" name="Text 6">
              <a:extLst>
                <a:ext uri="{FF2B5EF4-FFF2-40B4-BE49-F238E27FC236}">
                  <a16:creationId xmlns:a16="http://schemas.microsoft.com/office/drawing/2014/main" id="{DD36DF8F-2DB3-CF49-CA11-50B738B39DC3}"/>
                </a:ext>
              </a:extLst>
            </p:cNvPr>
            <p:cNvSpPr/>
            <p:nvPr/>
          </p:nvSpPr>
          <p:spPr>
            <a:xfrm>
              <a:off x="2344994" y="5769313"/>
              <a:ext cx="1920240" cy="2743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950" b="1" dirty="0">
                  <a:ln w="0"/>
                  <a:solidFill>
                    <a:schemeClr val="tx1"/>
                  </a:solidFill>
                </a:rPr>
                <a:t>Census Records</a:t>
              </a:r>
            </a:p>
          </p:txBody>
        </p:sp>
        <p:sp useBgFill="1">
          <p:nvSpPr>
            <p:cNvPr id="8" name="Text 7">
              <a:extLst>
                <a:ext uri="{FF2B5EF4-FFF2-40B4-BE49-F238E27FC236}">
                  <a16:creationId xmlns:a16="http://schemas.microsoft.com/office/drawing/2014/main" id="{15AA89E8-0C70-4E89-9804-4102E27CFF2E}"/>
                </a:ext>
              </a:extLst>
            </p:cNvPr>
            <p:cNvSpPr/>
            <p:nvPr/>
          </p:nvSpPr>
          <p:spPr>
            <a:xfrm>
              <a:off x="4448114" y="5266393"/>
              <a:ext cx="1920240" cy="5029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2200" b="1" dirty="0">
                  <a:ln w="0"/>
                  <a:solidFill>
                    <a:schemeClr val="tx1"/>
                  </a:solidFill>
                </a:rPr>
                <a:t>40</a:t>
              </a:r>
            </a:p>
          </p:txBody>
        </p:sp>
        <p:sp useBgFill="1">
          <p:nvSpPr>
            <p:cNvPr id="9" name="Text 8">
              <a:extLst>
                <a:ext uri="{FF2B5EF4-FFF2-40B4-BE49-F238E27FC236}">
                  <a16:creationId xmlns:a16="http://schemas.microsoft.com/office/drawing/2014/main" id="{90C66918-2972-0587-3CCC-20F11571EE3D}"/>
                </a:ext>
              </a:extLst>
            </p:cNvPr>
            <p:cNvSpPr/>
            <p:nvPr/>
          </p:nvSpPr>
          <p:spPr>
            <a:xfrm>
              <a:off x="4448114" y="5769313"/>
              <a:ext cx="1920240" cy="2743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950" b="1" dirty="0">
                  <a:ln w="0"/>
                  <a:solidFill>
                    <a:schemeClr val="tx1"/>
                  </a:solidFill>
                </a:rPr>
                <a:t>Feature Variables</a:t>
              </a:r>
            </a:p>
          </p:txBody>
        </p:sp>
        <p:sp useBgFill="1">
          <p:nvSpPr>
            <p:cNvPr id="10" name="Text 9">
              <a:extLst>
                <a:ext uri="{FF2B5EF4-FFF2-40B4-BE49-F238E27FC236}">
                  <a16:creationId xmlns:a16="http://schemas.microsoft.com/office/drawing/2014/main" id="{EC83F4FC-33A4-17B4-E8A5-0378D0EFB8DC}"/>
                </a:ext>
              </a:extLst>
            </p:cNvPr>
            <p:cNvSpPr/>
            <p:nvPr/>
          </p:nvSpPr>
          <p:spPr>
            <a:xfrm>
              <a:off x="6551234" y="5266393"/>
              <a:ext cx="1920240" cy="5029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2200" b="1" dirty="0">
                  <a:ln w="0"/>
                  <a:solidFill>
                    <a:schemeClr val="tx1"/>
                  </a:solidFill>
                </a:rPr>
                <a:t>95.23%</a:t>
              </a:r>
            </a:p>
          </p:txBody>
        </p:sp>
        <p:sp useBgFill="1">
          <p:nvSpPr>
            <p:cNvPr id="11" name="Text 10">
              <a:extLst>
                <a:ext uri="{FF2B5EF4-FFF2-40B4-BE49-F238E27FC236}">
                  <a16:creationId xmlns:a16="http://schemas.microsoft.com/office/drawing/2014/main" id="{68B81871-5333-181B-6011-EBAA3F55EC39}"/>
                </a:ext>
              </a:extLst>
            </p:cNvPr>
            <p:cNvSpPr/>
            <p:nvPr/>
          </p:nvSpPr>
          <p:spPr>
            <a:xfrm>
              <a:off x="6551234" y="5769313"/>
              <a:ext cx="1920240" cy="2743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950" b="1" dirty="0">
                  <a:ln w="0"/>
                  <a:solidFill>
                    <a:schemeClr val="tx1"/>
                  </a:solidFill>
                </a:rPr>
                <a:t>Best ROC-AUC</a:t>
              </a:r>
            </a:p>
          </p:txBody>
        </p:sp>
        <p:sp useBgFill="1">
          <p:nvSpPr>
            <p:cNvPr id="12" name="Text 11">
              <a:extLst>
                <a:ext uri="{FF2B5EF4-FFF2-40B4-BE49-F238E27FC236}">
                  <a16:creationId xmlns:a16="http://schemas.microsoft.com/office/drawing/2014/main" id="{BB94D3B0-B10C-4005-3F7F-61283CA15044}"/>
                </a:ext>
              </a:extLst>
            </p:cNvPr>
            <p:cNvSpPr/>
            <p:nvPr/>
          </p:nvSpPr>
          <p:spPr>
            <a:xfrm>
              <a:off x="8654354" y="5266393"/>
              <a:ext cx="1920240" cy="5029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2200" b="1" dirty="0">
                  <a:ln w="0"/>
                  <a:solidFill>
                    <a:schemeClr val="tx1"/>
                  </a:solidFill>
                </a:rPr>
                <a:t>3</a:t>
              </a:r>
            </a:p>
          </p:txBody>
        </p:sp>
        <p:sp useBgFill="1">
          <p:nvSpPr>
            <p:cNvPr id="13" name="Text 12">
              <a:extLst>
                <a:ext uri="{FF2B5EF4-FFF2-40B4-BE49-F238E27FC236}">
                  <a16:creationId xmlns:a16="http://schemas.microsoft.com/office/drawing/2014/main" id="{C759D291-E099-2C9C-9F90-C6D98D0FDF79}"/>
                </a:ext>
              </a:extLst>
            </p:cNvPr>
            <p:cNvSpPr/>
            <p:nvPr/>
          </p:nvSpPr>
          <p:spPr>
            <a:xfrm>
              <a:off x="8654354" y="5769313"/>
              <a:ext cx="1920240" cy="2743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950" b="1" dirty="0">
                  <a:ln w="0"/>
                  <a:solidFill>
                    <a:schemeClr val="tx1"/>
                  </a:solidFill>
                </a:rPr>
                <a:t>Market Segments</a:t>
              </a:r>
            </a:p>
          </p:txBody>
        </p:sp>
        <p:sp useBgFill="1">
          <p:nvSpPr>
            <p:cNvPr id="14" name="Text 13">
              <a:extLst>
                <a:ext uri="{FF2B5EF4-FFF2-40B4-BE49-F238E27FC236}">
                  <a16:creationId xmlns:a16="http://schemas.microsoft.com/office/drawing/2014/main" id="{9496BCDE-18B5-5C75-0E0C-E892CAC86462}"/>
                </a:ext>
              </a:extLst>
            </p:cNvPr>
            <p:cNvSpPr/>
            <p:nvPr/>
          </p:nvSpPr>
          <p:spPr>
            <a:xfrm>
              <a:off x="2344994" y="6363673"/>
              <a:ext cx="8229600" cy="274320"/>
            </a:xfrm>
            <a:prstGeom prst="rect">
              <a:avLst/>
            </a:prstGeom>
            <a:grpFill/>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nchor="ctr"/>
            <a:lstStyle/>
            <a:p>
              <a:pPr marL="0" indent="0" algn="ctr">
                <a:buNone/>
              </a:pPr>
              <a:r>
                <a:rPr lang="en-US" sz="900" b="1" dirty="0">
                  <a:ln w="0"/>
                  <a:solidFill>
                    <a:schemeClr val="tx1"/>
                  </a:solidFill>
                </a:rPr>
                <a:t>Machine Learning Team  |  February 2026  |</a:t>
              </a:r>
            </a:p>
          </p:txBody>
        </p:sp>
      </p:grpSp>
    </p:spTree>
    <p:extLst>
      <p:ext uri="{BB962C8B-B14F-4D97-AF65-F5344CB8AC3E}">
        <p14:creationId xmlns:p14="http://schemas.microsoft.com/office/powerpoint/2010/main" val="52462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0" name="Date Placeholder 89">
            <a:extLst>
              <a:ext uri="{FF2B5EF4-FFF2-40B4-BE49-F238E27FC236}">
                <a16:creationId xmlns:a16="http://schemas.microsoft.com/office/drawing/2014/main" id="{0220DE4F-28BE-8F7B-DEE9-7706CA30E509}"/>
              </a:ext>
            </a:extLst>
          </p:cNvPr>
          <p:cNvSpPr>
            <a:spLocks noGrp="1"/>
          </p:cNvSpPr>
          <p:nvPr>
            <p:ph type="dt" sz="half" idx="10"/>
          </p:nvPr>
        </p:nvSpPr>
        <p:spPr/>
        <p:txBody>
          <a:bodyPr/>
          <a:lstStyle/>
          <a:p>
            <a:fld id="{80DADCE5-AD35-45BE-A9F8-6E58CD07CCE6}" type="datetime1">
              <a:rPr lang="en-US" smtClean="0"/>
              <a:t>2/19/26</a:t>
            </a:fld>
            <a:endParaRPr lang="en-US"/>
          </a:p>
        </p:txBody>
      </p:sp>
      <p:sp>
        <p:nvSpPr>
          <p:cNvPr id="91" name="Footer Placeholder 90">
            <a:extLst>
              <a:ext uri="{FF2B5EF4-FFF2-40B4-BE49-F238E27FC236}">
                <a16:creationId xmlns:a16="http://schemas.microsoft.com/office/drawing/2014/main" id="{9A2F4C96-CBEA-575C-A1F4-B63C78E18A6A}"/>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92" name="Slide Number Placeholder 91">
            <a:extLst>
              <a:ext uri="{FF2B5EF4-FFF2-40B4-BE49-F238E27FC236}">
                <a16:creationId xmlns:a16="http://schemas.microsoft.com/office/drawing/2014/main" id="{C17FEF05-30FA-0E91-5B9F-A5745EE7A474}"/>
              </a:ext>
            </a:extLst>
          </p:cNvPr>
          <p:cNvSpPr>
            <a:spLocks noGrp="1"/>
          </p:cNvSpPr>
          <p:nvPr>
            <p:ph type="sldNum" sz="quarter" idx="12"/>
          </p:nvPr>
        </p:nvSpPr>
        <p:spPr/>
        <p:txBody>
          <a:bodyPr/>
          <a:lstStyle/>
          <a:p>
            <a:fld id="{ACF67F9B-24B2-4C3B-9DFF-0BBDBF735F65}" type="slidenum">
              <a:rPr lang="en-US" smtClean="0"/>
              <a:t>2</a:t>
            </a:fld>
            <a:endParaRPr lang="en-US"/>
          </a:p>
        </p:txBody>
      </p:sp>
      <p:sp>
        <p:nvSpPr>
          <p:cNvPr id="4" name="Title 3">
            <a:extLst>
              <a:ext uri="{FF2B5EF4-FFF2-40B4-BE49-F238E27FC236}">
                <a16:creationId xmlns:a16="http://schemas.microsoft.com/office/drawing/2014/main" id="{33F6DF73-9359-2FF4-B7AB-BEAE73451A03}"/>
              </a:ext>
            </a:extLst>
          </p:cNvPr>
          <p:cNvSpPr>
            <a:spLocks noGrp="1"/>
          </p:cNvSpPr>
          <p:nvPr>
            <p:ph type="title" idx="4294967295"/>
          </p:nvPr>
        </p:nvSpPr>
        <p:spPr>
          <a:xfrm>
            <a:off x="497840" y="221993"/>
            <a:ext cx="8528050" cy="801688"/>
          </a:xfrm>
        </p:spPr>
        <p:txBody>
          <a:bodyPr>
            <a:normAutofit/>
          </a:bodyPr>
          <a:lstStyle/>
          <a:p>
            <a:r>
              <a:rPr lang="en-US" sz="4400" b="1" dirty="0">
                <a:latin typeface="Garamond" panose="02020404030301010803" pitchFamily="18" charset="0"/>
              </a:rPr>
              <a:t>Agenda</a:t>
            </a:r>
          </a:p>
        </p:txBody>
      </p:sp>
      <p:sp>
        <p:nvSpPr>
          <p:cNvPr id="83" name="Rectangle: Rounded Corners 82">
            <a:extLst>
              <a:ext uri="{FF2B5EF4-FFF2-40B4-BE49-F238E27FC236}">
                <a16:creationId xmlns:a16="http://schemas.microsoft.com/office/drawing/2014/main" id="{CF2AF97A-BE6F-8E50-3340-173152728170}"/>
              </a:ext>
            </a:extLst>
          </p:cNvPr>
          <p:cNvSpPr/>
          <p:nvPr/>
        </p:nvSpPr>
        <p:spPr>
          <a:xfrm>
            <a:off x="1189703" y="1288023"/>
            <a:ext cx="4552336" cy="648929"/>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1. Executive Summary</a:t>
            </a:r>
          </a:p>
          <a:p>
            <a:r>
              <a:rPr lang="en-US" b="1" dirty="0"/>
              <a:t>	</a:t>
            </a:r>
            <a:r>
              <a:rPr lang="en-US" dirty="0"/>
              <a:t>Key Findings and Business Takeaways</a:t>
            </a:r>
          </a:p>
        </p:txBody>
      </p:sp>
      <p:sp>
        <p:nvSpPr>
          <p:cNvPr id="84" name="Rectangle: Rounded Corners 83">
            <a:extLst>
              <a:ext uri="{FF2B5EF4-FFF2-40B4-BE49-F238E27FC236}">
                <a16:creationId xmlns:a16="http://schemas.microsoft.com/office/drawing/2014/main" id="{A00C2724-AC5F-2577-80DD-C359AB95B862}"/>
              </a:ext>
            </a:extLst>
          </p:cNvPr>
          <p:cNvSpPr/>
          <p:nvPr/>
        </p:nvSpPr>
        <p:spPr>
          <a:xfrm>
            <a:off x="1189703" y="2062234"/>
            <a:ext cx="4552336" cy="648929"/>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2. Business Problem Overview</a:t>
            </a:r>
          </a:p>
          <a:p>
            <a:pPr marL="285750" indent="-285750">
              <a:buFont typeface="Arial" panose="020B0604020202020204" pitchFamily="34" charset="0"/>
              <a:buChar char="•"/>
            </a:pPr>
            <a:r>
              <a:rPr lang="en-US" b="1" dirty="0"/>
              <a:t>	</a:t>
            </a:r>
            <a:r>
              <a:rPr lang="en-US" dirty="0"/>
              <a:t>Objective, Dataset and Project Scope</a:t>
            </a:r>
          </a:p>
        </p:txBody>
      </p:sp>
      <p:sp>
        <p:nvSpPr>
          <p:cNvPr id="85" name="Rectangle: Rounded Corners 84">
            <a:extLst>
              <a:ext uri="{FF2B5EF4-FFF2-40B4-BE49-F238E27FC236}">
                <a16:creationId xmlns:a16="http://schemas.microsoft.com/office/drawing/2014/main" id="{B4866A88-7F29-227C-702A-0430E0A59C91}"/>
              </a:ext>
            </a:extLst>
          </p:cNvPr>
          <p:cNvSpPr/>
          <p:nvPr/>
        </p:nvSpPr>
        <p:spPr>
          <a:xfrm>
            <a:off x="1189703" y="2846274"/>
            <a:ext cx="4552336" cy="193695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3. Data Exploration (EDA) &amp; Preprocessing</a:t>
            </a:r>
          </a:p>
          <a:p>
            <a:pPr marL="285750" indent="-285750">
              <a:buFont typeface="Arial" panose="020B0604020202020204" pitchFamily="34" charset="0"/>
              <a:buChar char="•"/>
            </a:pPr>
            <a:r>
              <a:rPr lang="en-US" dirty="0"/>
              <a:t>Feature Analysis, </a:t>
            </a:r>
          </a:p>
          <a:p>
            <a:pPr marL="285750" indent="-285750">
              <a:buFont typeface="Arial" panose="020B0604020202020204" pitchFamily="34" charset="0"/>
              <a:buChar char="•"/>
            </a:pPr>
            <a:r>
              <a:rPr lang="en-US" dirty="0"/>
              <a:t>Distributions and Insights</a:t>
            </a:r>
          </a:p>
          <a:p>
            <a:pPr marL="285750" indent="-285750">
              <a:buFont typeface="Arial" panose="020B0604020202020204" pitchFamily="34" charset="0"/>
              <a:buChar char="•"/>
            </a:pPr>
            <a:r>
              <a:rPr lang="en-US" dirty="0"/>
              <a:t>Missing Values and Class Imbalance</a:t>
            </a:r>
          </a:p>
          <a:p>
            <a:pPr marL="285750" indent="-285750">
              <a:buFont typeface="Arial" panose="020B0604020202020204" pitchFamily="34" charset="0"/>
              <a:buChar char="•"/>
            </a:pPr>
            <a:r>
              <a:rPr lang="en-US" dirty="0"/>
              <a:t>Categorical Encoding</a:t>
            </a:r>
          </a:p>
          <a:p>
            <a:pPr marL="285750" indent="-285750">
              <a:buFont typeface="Arial" panose="020B0604020202020204" pitchFamily="34" charset="0"/>
              <a:buChar char="•"/>
            </a:pPr>
            <a:endParaRPr lang="en-US" dirty="0"/>
          </a:p>
        </p:txBody>
      </p:sp>
      <p:sp>
        <p:nvSpPr>
          <p:cNvPr id="86" name="Rectangle: Rounded Corners 85">
            <a:extLst>
              <a:ext uri="{FF2B5EF4-FFF2-40B4-BE49-F238E27FC236}">
                <a16:creationId xmlns:a16="http://schemas.microsoft.com/office/drawing/2014/main" id="{DD555FE7-8532-D85D-8FB2-538ED5CBC2F6}"/>
              </a:ext>
            </a:extLst>
          </p:cNvPr>
          <p:cNvSpPr/>
          <p:nvPr/>
        </p:nvSpPr>
        <p:spPr>
          <a:xfrm>
            <a:off x="1189703" y="4918339"/>
            <a:ext cx="4552336" cy="1445342"/>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4. Classification Model</a:t>
            </a:r>
          </a:p>
          <a:p>
            <a:pPr marL="285750" indent="-285750">
              <a:buFont typeface="Arial" panose="020B0604020202020204" pitchFamily="34" charset="0"/>
              <a:buChar char="•"/>
            </a:pPr>
            <a:r>
              <a:rPr lang="en-US" b="1" dirty="0"/>
              <a:t>Training</a:t>
            </a:r>
          </a:p>
          <a:p>
            <a:pPr marL="285750" indent="-285750">
              <a:buFont typeface="Arial" panose="020B0604020202020204" pitchFamily="34" charset="0"/>
              <a:buChar char="•"/>
            </a:pPr>
            <a:r>
              <a:rPr lang="en-US" b="1" dirty="0"/>
              <a:t>Evaluation</a:t>
            </a:r>
          </a:p>
          <a:p>
            <a:pPr marL="285750" indent="-285750">
              <a:buFont typeface="Arial" panose="020B0604020202020204" pitchFamily="34" charset="0"/>
              <a:buChar char="•"/>
            </a:pPr>
            <a:r>
              <a:rPr lang="en-US" b="1" dirty="0"/>
              <a:t>Model Comparison</a:t>
            </a:r>
          </a:p>
          <a:p>
            <a:pPr marL="285750" indent="-285750">
              <a:buFont typeface="Arial" panose="020B0604020202020204" pitchFamily="34" charset="0"/>
              <a:buChar char="•"/>
            </a:pPr>
            <a:r>
              <a:rPr lang="en-US" b="1" dirty="0"/>
              <a:t>Feature Importance</a:t>
            </a:r>
            <a:endParaRPr lang="en-US" dirty="0"/>
          </a:p>
        </p:txBody>
      </p:sp>
      <p:sp>
        <p:nvSpPr>
          <p:cNvPr id="87" name="Rectangle: Rounded Corners 86">
            <a:extLst>
              <a:ext uri="{FF2B5EF4-FFF2-40B4-BE49-F238E27FC236}">
                <a16:creationId xmlns:a16="http://schemas.microsoft.com/office/drawing/2014/main" id="{F87480E7-2769-38A4-F309-04D28715CE3B}"/>
              </a:ext>
            </a:extLst>
          </p:cNvPr>
          <p:cNvSpPr/>
          <p:nvPr/>
        </p:nvSpPr>
        <p:spPr>
          <a:xfrm>
            <a:off x="6449961" y="1292937"/>
            <a:ext cx="4552336" cy="1656737"/>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5. Segmentation Model</a:t>
            </a:r>
          </a:p>
          <a:p>
            <a:pPr marL="285750" indent="-285750">
              <a:buFont typeface="Arial" panose="020B0604020202020204" pitchFamily="34" charset="0"/>
              <a:buChar char="•"/>
            </a:pPr>
            <a:r>
              <a:rPr lang="en-US" b="1" dirty="0"/>
              <a:t>PCA</a:t>
            </a:r>
          </a:p>
          <a:p>
            <a:pPr marL="285750" indent="-285750">
              <a:buFont typeface="Arial" panose="020B0604020202020204" pitchFamily="34" charset="0"/>
              <a:buChar char="•"/>
            </a:pPr>
            <a:r>
              <a:rPr lang="en-US" b="1" dirty="0"/>
              <a:t>Model Evaluation</a:t>
            </a:r>
          </a:p>
          <a:p>
            <a:pPr marL="285750" indent="-285750">
              <a:buFont typeface="Arial" panose="020B0604020202020204" pitchFamily="34" charset="0"/>
              <a:buChar char="•"/>
            </a:pPr>
            <a:r>
              <a:rPr lang="en-US" b="1" dirty="0"/>
              <a:t>Model Comparison</a:t>
            </a:r>
          </a:p>
          <a:p>
            <a:pPr marL="285750" indent="-285750">
              <a:buFont typeface="Arial" panose="020B0604020202020204" pitchFamily="34" charset="0"/>
              <a:buChar char="•"/>
            </a:pPr>
            <a:r>
              <a:rPr lang="en-US" b="1" dirty="0"/>
              <a:t>Optimal K selection</a:t>
            </a:r>
          </a:p>
        </p:txBody>
      </p:sp>
      <p:sp>
        <p:nvSpPr>
          <p:cNvPr id="88" name="Rectangle: Rounded Corners 87">
            <a:extLst>
              <a:ext uri="{FF2B5EF4-FFF2-40B4-BE49-F238E27FC236}">
                <a16:creationId xmlns:a16="http://schemas.microsoft.com/office/drawing/2014/main" id="{67286142-B664-8DBA-5C47-9D68B6424B38}"/>
              </a:ext>
            </a:extLst>
          </p:cNvPr>
          <p:cNvSpPr/>
          <p:nvPr/>
        </p:nvSpPr>
        <p:spPr>
          <a:xfrm>
            <a:off x="6449961" y="3269217"/>
            <a:ext cx="4552336" cy="648929"/>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6. Business Recommendations</a:t>
            </a:r>
          </a:p>
          <a:p>
            <a:pPr marL="285750" indent="-285750">
              <a:buFont typeface="Arial" panose="020B0604020202020204" pitchFamily="34" charset="0"/>
              <a:buChar char="•"/>
            </a:pPr>
            <a:r>
              <a:rPr lang="en-US" b="1" dirty="0"/>
              <a:t>Model deployment for marketing</a:t>
            </a:r>
            <a:endParaRPr lang="en-US" dirty="0"/>
          </a:p>
        </p:txBody>
      </p:sp>
      <p:sp>
        <p:nvSpPr>
          <p:cNvPr id="89" name="Rectangle: Rounded Corners 88">
            <a:extLst>
              <a:ext uri="{FF2B5EF4-FFF2-40B4-BE49-F238E27FC236}">
                <a16:creationId xmlns:a16="http://schemas.microsoft.com/office/drawing/2014/main" id="{BE318D60-83E2-4737-B2DF-F652EAECC22A}"/>
              </a:ext>
            </a:extLst>
          </p:cNvPr>
          <p:cNvSpPr/>
          <p:nvPr/>
        </p:nvSpPr>
        <p:spPr>
          <a:xfrm>
            <a:off x="6449961" y="4237689"/>
            <a:ext cx="4552336" cy="648929"/>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b="1" dirty="0"/>
              <a:t>7. References</a:t>
            </a:r>
          </a:p>
          <a:p>
            <a:pPr marL="285750" indent="-285750">
              <a:buFont typeface="Arial" panose="020B0604020202020204" pitchFamily="34" charset="0"/>
              <a:buChar char="•"/>
            </a:pPr>
            <a:r>
              <a:rPr lang="en-US" b="1" dirty="0"/>
              <a:t>Data Sources and technical references</a:t>
            </a:r>
            <a:endParaRPr lang="en-US" dirty="0"/>
          </a:p>
        </p:txBody>
      </p:sp>
    </p:spTree>
    <p:extLst>
      <p:ext uri="{BB962C8B-B14F-4D97-AF65-F5344CB8AC3E}">
        <p14:creationId xmlns:p14="http://schemas.microsoft.com/office/powerpoint/2010/main" val="3374306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BB64A5-DC74-3284-55B9-D5A19F6AFBC0}"/>
              </a:ext>
            </a:extLst>
          </p:cNvPr>
          <p:cNvSpPr>
            <a:spLocks noGrp="1"/>
          </p:cNvSpPr>
          <p:nvPr>
            <p:ph type="title"/>
          </p:nvPr>
        </p:nvSpPr>
        <p:spPr>
          <a:xfrm>
            <a:off x="606662" y="256638"/>
            <a:ext cx="9793798" cy="811400"/>
          </a:xfrm>
        </p:spPr>
        <p:txBody>
          <a:bodyPr>
            <a:normAutofit/>
          </a:bodyPr>
          <a:lstStyle/>
          <a:p>
            <a:r>
              <a:rPr lang="en-US" b="1" dirty="0"/>
              <a:t>Executive Summary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5631633-83A6-8A1C-98AE-F2828473EA9E}"/>
                  </a:ext>
                </a:extLst>
              </p:cNvPr>
              <p:cNvSpPr>
                <a:spLocks noGrp="1"/>
              </p:cNvSpPr>
              <p:nvPr>
                <p:ph sz="half" idx="1"/>
              </p:nvPr>
            </p:nvSpPr>
            <p:spPr>
              <a:xfrm>
                <a:off x="606662" y="2130095"/>
                <a:ext cx="5617157" cy="3779092"/>
              </a:xfrm>
              <a:ln w="12700">
                <a:solidFill>
                  <a:schemeClr val="tx1"/>
                </a:solidFill>
              </a:ln>
              <a:effectLst>
                <a:outerShdw blurRad="76200" dir="13500000" sy="23000" kx="1200000" algn="br" rotWithShape="0">
                  <a:prstClr val="black">
                    <a:alpha val="20000"/>
                  </a:prstClr>
                </a:outerShdw>
              </a:effectLst>
            </p:spPr>
            <p:txBody>
              <a:bodyPr>
                <a:noAutofit/>
              </a:bodyPr>
              <a:lstStyle/>
              <a:p>
                <a:pPr marL="0" indent="0">
                  <a:buNone/>
                </a:pPr>
                <a:r>
                  <a:rPr lang="en-US" sz="1400" b="1" dirty="0"/>
                  <a:t>Objective:</a:t>
                </a:r>
              </a:p>
              <a:p>
                <a:r>
                  <a:rPr lang="en-US" sz="1400" dirty="0"/>
                  <a:t>Improve marketing efficiency by utilizing machine learning models to identify the following class:</a:t>
                </a:r>
              </a:p>
              <a:p>
                <a:pPr lvl="1"/>
                <a:r>
                  <a:rPr lang="en-US" sz="1400" dirty="0"/>
                  <a:t>Individual earnings </a:t>
                </a:r>
                <a14:m>
                  <m:oMath xmlns:m="http://schemas.openxmlformats.org/officeDocument/2006/math">
                    <m:r>
                      <a:rPr lang="en-US" sz="1400" b="0" i="1" smtClean="0">
                        <a:latin typeface="Cambria Math" panose="02040503050406030204" pitchFamily="18" charset="0"/>
                      </a:rPr>
                      <m:t>≤50</m:t>
                    </m:r>
                    <m:r>
                      <a:rPr lang="en-US" sz="1400" b="0" i="1" smtClean="0">
                        <a:latin typeface="Cambria Math" panose="02040503050406030204" pitchFamily="18" charset="0"/>
                      </a:rPr>
                      <m:t>𝐾</m:t>
                    </m:r>
                  </m:oMath>
                </a14:m>
                <a:r>
                  <a:rPr lang="en-US" sz="1400" dirty="0"/>
                  <a:t> annually</a:t>
                </a:r>
              </a:p>
              <a:p>
                <a:pPr lvl="1"/>
                <a:r>
                  <a:rPr lang="en-US" sz="1400" dirty="0"/>
                  <a:t>Individuals earning </a:t>
                </a:r>
                <a14:m>
                  <m:oMath xmlns:m="http://schemas.openxmlformats.org/officeDocument/2006/math">
                    <m:r>
                      <a:rPr lang="en-US" sz="1400" b="0" i="1" smtClean="0">
                        <a:latin typeface="Cambria Math" panose="02040503050406030204" pitchFamily="18" charset="0"/>
                      </a:rPr>
                      <m:t>&gt;50</m:t>
                    </m:r>
                    <m:r>
                      <a:rPr lang="en-US" sz="1400" b="0" i="1" smtClean="0">
                        <a:latin typeface="Cambria Math" panose="02040503050406030204" pitchFamily="18" charset="0"/>
                      </a:rPr>
                      <m:t>𝐾</m:t>
                    </m:r>
                  </m:oMath>
                </a14:m>
                <a:r>
                  <a:rPr lang="en-US" sz="1400" dirty="0"/>
                  <a:t> annually</a:t>
                </a:r>
              </a:p>
              <a:p>
                <a:r>
                  <a:rPr lang="en-US" sz="1400" dirty="0"/>
                  <a:t>Segmentation framework that tailor marketing strategies to distinct customer groups</a:t>
                </a:r>
              </a:p>
              <a:p>
                <a:pPr marL="0" indent="0">
                  <a:buNone/>
                </a:pPr>
                <a:r>
                  <a:rPr lang="en-US" sz="1400" b="1" dirty="0"/>
                  <a:t>Business Impact:</a:t>
                </a:r>
              </a:p>
              <a:p>
                <a:r>
                  <a:rPr lang="en-US" sz="1400" dirty="0"/>
                  <a:t>Marketing efforts should prioritize high-income prospects predicted by the model.</a:t>
                </a:r>
              </a:p>
              <a:p>
                <a:r>
                  <a:rPr lang="en-US" sz="1400" dirty="0"/>
                  <a:t>Segmentation model differentiated the cluster group that can be impacted by the client’s products (premium vs value-focused options)</a:t>
                </a:r>
              </a:p>
              <a:p>
                <a:r>
                  <a:rPr lang="en-US" sz="1400" dirty="0"/>
                  <a:t>Segmentation model identified cluster group that will benefit from impact programs of the client.</a:t>
                </a:r>
              </a:p>
              <a:p>
                <a:endParaRPr lang="en-US" sz="1400" dirty="0"/>
              </a:p>
            </p:txBody>
          </p:sp>
        </mc:Choice>
        <mc:Fallback xmlns="">
          <p:sp>
            <p:nvSpPr>
              <p:cNvPr id="6" name="Content Placeholder 5">
                <a:extLst>
                  <a:ext uri="{FF2B5EF4-FFF2-40B4-BE49-F238E27FC236}">
                    <a16:creationId xmlns:a16="http://schemas.microsoft.com/office/drawing/2014/main" id="{B5631633-83A6-8A1C-98AE-F2828473EA9E}"/>
                  </a:ext>
                </a:extLst>
              </p:cNvPr>
              <p:cNvSpPr>
                <a:spLocks noGrp="1" noRot="1" noChangeAspect="1" noMove="1" noResize="1" noEditPoints="1" noAdjustHandles="1" noChangeArrowheads="1" noChangeShapeType="1" noTextEdit="1"/>
              </p:cNvSpPr>
              <p:nvPr>
                <p:ph sz="half" idx="1"/>
              </p:nvPr>
            </p:nvSpPr>
            <p:spPr>
              <a:xfrm>
                <a:off x="606662" y="2130095"/>
                <a:ext cx="5617157" cy="3779092"/>
              </a:xfrm>
              <a:blipFill>
                <a:blip r:embed="rId2"/>
                <a:stretch>
                  <a:fillRect t="-984"/>
                </a:stretch>
              </a:blipFill>
              <a:ln w="12700">
                <a:solidFill>
                  <a:schemeClr val="tx1"/>
                </a:solidFill>
              </a:ln>
              <a:effectLst>
                <a:outerShdw blurRad="76200" dir="13500000" sy="23000" kx="1200000" algn="br" rotWithShape="0">
                  <a:prstClr val="black">
                    <a:alpha val="20000"/>
                  </a:prstClr>
                </a:outerShdw>
              </a:effectLst>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D9C2DD01-9A4C-BFF8-5820-A7A0E76E9F27}"/>
              </a:ext>
            </a:extLst>
          </p:cNvPr>
          <p:cNvSpPr>
            <a:spLocks noGrp="1"/>
          </p:cNvSpPr>
          <p:nvPr>
            <p:ph sz="half" idx="2"/>
          </p:nvPr>
        </p:nvSpPr>
        <p:spPr>
          <a:xfrm>
            <a:off x="6552624" y="2124529"/>
            <a:ext cx="5417127" cy="4231819"/>
          </a:xfrm>
          <a:ln>
            <a:solidFill>
              <a:schemeClr val="tx1"/>
            </a:solidFill>
          </a:ln>
        </p:spPr>
        <p:txBody>
          <a:bodyPr>
            <a:noAutofit/>
          </a:bodyPr>
          <a:lstStyle/>
          <a:p>
            <a:pPr marL="0" indent="0">
              <a:lnSpc>
                <a:spcPct val="100000"/>
              </a:lnSpc>
              <a:buNone/>
            </a:pPr>
            <a:r>
              <a:rPr lang="en-US" sz="1400" b="1" dirty="0"/>
              <a:t>Key Results:</a:t>
            </a:r>
          </a:p>
          <a:p>
            <a:pPr>
              <a:lnSpc>
                <a:spcPct val="100000"/>
              </a:lnSpc>
            </a:pPr>
            <a:r>
              <a:rPr lang="en-US" sz="1400" b="1" dirty="0"/>
              <a:t>Classification Model Summary</a:t>
            </a:r>
          </a:p>
          <a:p>
            <a:pPr lvl="1">
              <a:lnSpc>
                <a:spcPct val="100000"/>
              </a:lnSpc>
            </a:pPr>
            <a:r>
              <a:rPr lang="en-US" sz="1200" dirty="0"/>
              <a:t>All models exceed 90% ROC-AUC</a:t>
            </a:r>
          </a:p>
          <a:p>
            <a:pPr lvl="1">
              <a:lnSpc>
                <a:spcPct val="100000"/>
              </a:lnSpc>
            </a:pPr>
            <a:r>
              <a:rPr lang="en-US" sz="1200" b="1" dirty="0"/>
              <a:t>Selected Model: </a:t>
            </a:r>
            <a:r>
              <a:rPr lang="en-US" sz="1200" dirty="0"/>
              <a:t>Gradient Boosting Classifier (</a:t>
            </a:r>
            <a:r>
              <a:rPr lang="en-US" sz="1200" dirty="0" err="1"/>
              <a:t>XGBoost</a:t>
            </a:r>
            <a:r>
              <a:rPr lang="en-US" sz="1200" dirty="0"/>
              <a:t>)</a:t>
            </a:r>
          </a:p>
          <a:p>
            <a:pPr lvl="2">
              <a:lnSpc>
                <a:spcPct val="100000"/>
              </a:lnSpc>
            </a:pPr>
            <a:r>
              <a:rPr lang="en-US" sz="1200" dirty="0"/>
              <a:t>Efficient with class imbalance</a:t>
            </a:r>
          </a:p>
          <a:p>
            <a:pPr lvl="2">
              <a:lnSpc>
                <a:spcPct val="100000"/>
              </a:lnSpc>
            </a:pPr>
            <a:r>
              <a:rPr lang="en-US" sz="1200" dirty="0"/>
              <a:t>Test ROC-AUC: 94.81%</a:t>
            </a:r>
          </a:p>
          <a:p>
            <a:pPr lvl="2">
              <a:lnSpc>
                <a:spcPct val="100000"/>
              </a:lnSpc>
            </a:pPr>
            <a:r>
              <a:rPr lang="en-US" sz="1200" dirty="0"/>
              <a:t>Precision:</a:t>
            </a:r>
          </a:p>
          <a:p>
            <a:pPr lvl="2">
              <a:lnSpc>
                <a:spcPct val="100000"/>
              </a:lnSpc>
            </a:pPr>
            <a:r>
              <a:rPr lang="en-US" sz="1200" dirty="0"/>
              <a:t>Recall</a:t>
            </a:r>
          </a:p>
          <a:p>
            <a:pPr lvl="2">
              <a:lnSpc>
                <a:spcPct val="100000"/>
              </a:lnSpc>
            </a:pPr>
            <a:r>
              <a:rPr lang="en-US" sz="1200" dirty="0"/>
              <a:t>Class imbalance (15:1) handled with oversampling technique (SMOTE)</a:t>
            </a:r>
          </a:p>
          <a:p>
            <a:pPr>
              <a:lnSpc>
                <a:spcPct val="100000"/>
              </a:lnSpc>
            </a:pPr>
            <a:r>
              <a:rPr lang="en-US" sz="1400" b="1" dirty="0"/>
              <a:t>Segmentation Model Summary</a:t>
            </a:r>
          </a:p>
          <a:p>
            <a:pPr lvl="1">
              <a:lnSpc>
                <a:spcPct val="100000"/>
              </a:lnSpc>
            </a:pPr>
            <a:r>
              <a:rPr lang="en-US" sz="1200" dirty="0"/>
              <a:t>Clustering Model: KMEANS</a:t>
            </a:r>
          </a:p>
          <a:p>
            <a:pPr lvl="1">
              <a:lnSpc>
                <a:spcPct val="100000"/>
              </a:lnSpc>
            </a:pPr>
            <a:r>
              <a:rPr lang="en-US" sz="1200" dirty="0"/>
              <a:t>Cluster size: k =2</a:t>
            </a:r>
          </a:p>
          <a:p>
            <a:pPr lvl="1">
              <a:lnSpc>
                <a:spcPct val="100000"/>
              </a:lnSpc>
            </a:pPr>
            <a:r>
              <a:rPr lang="en-US" sz="1200" dirty="0"/>
              <a:t>Silhouette Score: 0.29</a:t>
            </a:r>
          </a:p>
          <a:p>
            <a:pPr lvl="1">
              <a:lnSpc>
                <a:spcPct val="100000"/>
              </a:lnSpc>
            </a:pPr>
            <a:r>
              <a:rPr lang="en-US" sz="1200" dirty="0"/>
              <a:t>Cluster 0: Working Class/Mainstream</a:t>
            </a:r>
          </a:p>
          <a:p>
            <a:pPr lvl="1">
              <a:lnSpc>
                <a:spcPct val="100000"/>
              </a:lnSpc>
            </a:pPr>
            <a:r>
              <a:rPr lang="en-US" sz="1200" dirty="0"/>
              <a:t>Cluster 1: Young Professional</a:t>
            </a:r>
          </a:p>
          <a:p>
            <a:pPr>
              <a:lnSpc>
                <a:spcPct val="100000"/>
              </a:lnSpc>
            </a:pPr>
            <a:endParaRPr lang="en-US" sz="1400" dirty="0"/>
          </a:p>
          <a:p>
            <a:pPr>
              <a:lnSpc>
                <a:spcPct val="100000"/>
              </a:lnSpc>
            </a:pPr>
            <a:endParaRPr lang="en-US" sz="1400" dirty="0"/>
          </a:p>
        </p:txBody>
      </p:sp>
      <p:sp>
        <p:nvSpPr>
          <p:cNvPr id="4" name="Date Placeholder 3">
            <a:extLst>
              <a:ext uri="{FF2B5EF4-FFF2-40B4-BE49-F238E27FC236}">
                <a16:creationId xmlns:a16="http://schemas.microsoft.com/office/drawing/2014/main" id="{FFC0C123-AD5A-1D34-BF5A-103CF4AA1071}"/>
              </a:ext>
            </a:extLst>
          </p:cNvPr>
          <p:cNvSpPr>
            <a:spLocks noGrp="1"/>
          </p:cNvSpPr>
          <p:nvPr>
            <p:ph type="dt" sz="half" idx="10"/>
          </p:nvPr>
        </p:nvSpPr>
        <p:spPr/>
        <p:txBody>
          <a:bodyPr/>
          <a:lstStyle/>
          <a:p>
            <a:fld id="{29054E33-380E-4135-9A0F-6727C76882E3}" type="datetime1">
              <a:rPr lang="en-US" smtClean="0"/>
              <a:t>2/19/26</a:t>
            </a:fld>
            <a:endParaRPr lang="en-US"/>
          </a:p>
        </p:txBody>
      </p:sp>
      <p:sp>
        <p:nvSpPr>
          <p:cNvPr id="3" name="Footer Placeholder 2">
            <a:extLst>
              <a:ext uri="{FF2B5EF4-FFF2-40B4-BE49-F238E27FC236}">
                <a16:creationId xmlns:a16="http://schemas.microsoft.com/office/drawing/2014/main" id="{751BAFF4-9850-5F3F-08E8-D1E9BFC8F354}"/>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2" name="Slide Number Placeholder 1">
            <a:extLst>
              <a:ext uri="{FF2B5EF4-FFF2-40B4-BE49-F238E27FC236}">
                <a16:creationId xmlns:a16="http://schemas.microsoft.com/office/drawing/2014/main" id="{B52E7018-64A6-1B3D-BB93-42A2E3A08A14}"/>
              </a:ext>
            </a:extLst>
          </p:cNvPr>
          <p:cNvSpPr>
            <a:spLocks noGrp="1"/>
          </p:cNvSpPr>
          <p:nvPr>
            <p:ph type="sldNum" sz="quarter" idx="12"/>
          </p:nvPr>
        </p:nvSpPr>
        <p:spPr/>
        <p:txBody>
          <a:bodyPr/>
          <a:lstStyle/>
          <a:p>
            <a:fld id="{ACF67F9B-24B2-4C3B-9DFF-0BBDBF735F65}" type="slidenum">
              <a:rPr lang="en-US" smtClean="0"/>
              <a:t>3</a:t>
            </a:fld>
            <a:endParaRPr lang="en-US"/>
          </a:p>
        </p:txBody>
      </p:sp>
      <p:grpSp>
        <p:nvGrpSpPr>
          <p:cNvPr id="12" name="Group 11">
            <a:extLst>
              <a:ext uri="{FF2B5EF4-FFF2-40B4-BE49-F238E27FC236}">
                <a16:creationId xmlns:a16="http://schemas.microsoft.com/office/drawing/2014/main" id="{2DB67553-AC38-87F1-E00B-5A02D7A70332}"/>
              </a:ext>
            </a:extLst>
          </p:cNvPr>
          <p:cNvGrpSpPr/>
          <p:nvPr/>
        </p:nvGrpSpPr>
        <p:grpSpPr>
          <a:xfrm>
            <a:off x="1163467" y="1027464"/>
            <a:ext cx="9865065" cy="811400"/>
            <a:chOff x="1474838" y="1152906"/>
            <a:chExt cx="8637011" cy="725055"/>
          </a:xfrm>
        </p:grpSpPr>
        <p:sp>
          <p:nvSpPr>
            <p:cNvPr id="8" name="Rectangle: Rounded Corners 7">
              <a:extLst>
                <a:ext uri="{FF2B5EF4-FFF2-40B4-BE49-F238E27FC236}">
                  <a16:creationId xmlns:a16="http://schemas.microsoft.com/office/drawing/2014/main" id="{ED15B9E0-E364-877F-7D34-D864FD9C8C7D}"/>
                </a:ext>
              </a:extLst>
            </p:cNvPr>
            <p:cNvSpPr/>
            <p:nvPr/>
          </p:nvSpPr>
          <p:spPr>
            <a:xfrm>
              <a:off x="1474838" y="1152906"/>
              <a:ext cx="1907459" cy="725053"/>
            </a:xfrm>
            <a:prstGeom prst="roundRect">
              <a:avLst/>
            </a:prstGeom>
            <a:solidFill>
              <a:schemeClr val="tx2">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rgbClr val="002060"/>
                  </a:solidFill>
                  <a:effectLst>
                    <a:outerShdw blurRad="38100" dist="38100" dir="2700000" algn="tl">
                      <a:srgbClr val="000000">
                        <a:alpha val="43137"/>
                      </a:srgbClr>
                    </a:outerShdw>
                  </a:effectLst>
                </a:rPr>
                <a:t>199,523</a:t>
              </a:r>
            </a:p>
            <a:p>
              <a:pPr algn="ctr"/>
              <a:r>
                <a:rPr lang="en-US" sz="1200" b="1" dirty="0">
                  <a:solidFill>
                    <a:srgbClr val="002060"/>
                  </a:solidFill>
                </a:rPr>
                <a:t>Total Records</a:t>
              </a:r>
            </a:p>
          </p:txBody>
        </p:sp>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C8C4444B-8B25-3B87-D497-321DC8604B9B}"/>
                    </a:ext>
                  </a:extLst>
                </p:cNvPr>
                <p:cNvSpPr/>
                <p:nvPr/>
              </p:nvSpPr>
              <p:spPr>
                <a:xfrm>
                  <a:off x="3718022" y="1152907"/>
                  <a:ext cx="1907459" cy="725054"/>
                </a:xfrm>
                <a:prstGeom prst="roundRect">
                  <a:avLst/>
                </a:prstGeom>
                <a:solidFill>
                  <a:schemeClr val="tx2">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rgbClr val="002060"/>
                      </a:solidFill>
                      <a:effectLst>
                        <a:outerShdw blurRad="38100" dist="38100" dir="2700000" algn="tl">
                          <a:srgbClr val="000000">
                            <a:alpha val="43137"/>
                          </a:srgbClr>
                        </a:outerShdw>
                      </a:effectLst>
                    </a:rPr>
                    <a:t>6.21 %</a:t>
                  </a:r>
                </a:p>
                <a:p>
                  <a:pPr algn="ctr"/>
                  <a:r>
                    <a:rPr lang="en-US" sz="1200" dirty="0">
                      <a:solidFill>
                        <a:srgbClr val="002060"/>
                      </a:solidFill>
                      <a:effectLst/>
                    </a:rPr>
                    <a:t>Earn </a:t>
                  </a:r>
                  <a14:m>
                    <m:oMath xmlns:m="http://schemas.openxmlformats.org/officeDocument/2006/math">
                      <m:r>
                        <a:rPr lang="en-US" sz="1200" b="0" i="1" smtClean="0">
                          <a:solidFill>
                            <a:srgbClr val="002060"/>
                          </a:solidFill>
                          <a:effectLst/>
                          <a:latin typeface="Cambria Math" panose="02040503050406030204" pitchFamily="18" charset="0"/>
                        </a:rPr>
                        <m:t>&gt;$50</m:t>
                      </m:r>
                      <m:r>
                        <a:rPr lang="en-US" sz="1200" b="0" i="1" smtClean="0">
                          <a:solidFill>
                            <a:srgbClr val="002060"/>
                          </a:solidFill>
                          <a:effectLst/>
                          <a:latin typeface="Cambria Math" panose="02040503050406030204" pitchFamily="18" charset="0"/>
                        </a:rPr>
                        <m:t>𝐾</m:t>
                      </m:r>
                    </m:oMath>
                  </a14:m>
                  <a:endParaRPr lang="en-US" sz="1200" dirty="0">
                    <a:solidFill>
                      <a:srgbClr val="002060"/>
                    </a:solidFill>
                    <a:effectLst/>
                  </a:endParaRPr>
                </a:p>
                <a:p>
                  <a:pPr algn="ctr"/>
                  <a:r>
                    <a:rPr lang="en-US" sz="1200" dirty="0">
                      <a:solidFill>
                        <a:srgbClr val="002060"/>
                      </a:solidFill>
                    </a:rPr>
                    <a:t>(Minority Class)</a:t>
                  </a:r>
                </a:p>
              </p:txBody>
            </p:sp>
          </mc:Choice>
          <mc:Fallback xmlns="">
            <p:sp>
              <p:nvSpPr>
                <p:cNvPr id="9" name="Rectangle: Rounded Corners 8">
                  <a:extLst>
                    <a:ext uri="{FF2B5EF4-FFF2-40B4-BE49-F238E27FC236}">
                      <a16:creationId xmlns:a16="http://schemas.microsoft.com/office/drawing/2014/main" id="{C8C4444B-8B25-3B87-D497-321DC8604B9B}"/>
                    </a:ext>
                  </a:extLst>
                </p:cNvPr>
                <p:cNvSpPr>
                  <a:spLocks noRot="1" noChangeAspect="1" noMove="1" noResize="1" noEditPoints="1" noAdjustHandles="1" noChangeArrowheads="1" noChangeShapeType="1" noTextEdit="1"/>
                </p:cNvSpPr>
                <p:nvPr/>
              </p:nvSpPr>
              <p:spPr>
                <a:xfrm>
                  <a:off x="3718022" y="1152907"/>
                  <a:ext cx="1907459" cy="725054"/>
                </a:xfrm>
                <a:prstGeom prst="roundRect">
                  <a:avLst/>
                </a:prstGeom>
                <a:blipFill>
                  <a:blip r:embed="rId3"/>
                  <a:stretch>
                    <a:fillRect t="-3333" b="-3333"/>
                  </a:stretch>
                </a:blipFill>
              </p:spPr>
              <p:txBody>
                <a:bodyPr/>
                <a:lstStyle/>
                <a:p>
                  <a:r>
                    <a:rPr lang="en-US">
                      <a:noFill/>
                    </a:rPr>
                    <a:t> </a:t>
                  </a:r>
                </a:p>
              </p:txBody>
            </p:sp>
          </mc:Fallback>
        </mc:AlternateContent>
        <p:sp>
          <p:nvSpPr>
            <p:cNvPr id="10" name="Rectangle: Rounded Corners 9">
              <a:extLst>
                <a:ext uri="{FF2B5EF4-FFF2-40B4-BE49-F238E27FC236}">
                  <a16:creationId xmlns:a16="http://schemas.microsoft.com/office/drawing/2014/main" id="{8BF9C111-FDE5-17D0-7CAC-7896077FC17B}"/>
                </a:ext>
              </a:extLst>
            </p:cNvPr>
            <p:cNvSpPr/>
            <p:nvPr/>
          </p:nvSpPr>
          <p:spPr>
            <a:xfrm>
              <a:off x="5961206" y="1152907"/>
              <a:ext cx="1907459" cy="725052"/>
            </a:xfrm>
            <a:prstGeom prst="roundRect">
              <a:avLst/>
            </a:prstGeom>
            <a:solidFill>
              <a:schemeClr val="tx2">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rgbClr val="002060"/>
                  </a:solidFill>
                  <a:effectLst>
                    <a:outerShdw blurRad="38100" dist="38100" dir="2700000" algn="tl">
                      <a:srgbClr val="000000">
                        <a:alpha val="43137"/>
                      </a:srgbClr>
                    </a:outerShdw>
                  </a:effectLst>
                </a:rPr>
                <a:t>94.81%</a:t>
              </a:r>
            </a:p>
            <a:p>
              <a:pPr algn="ctr"/>
              <a:r>
                <a:rPr lang="en-US" sz="1200" dirty="0">
                  <a:solidFill>
                    <a:srgbClr val="002060"/>
                  </a:solidFill>
                </a:rPr>
                <a:t>Best Model</a:t>
              </a:r>
            </a:p>
            <a:p>
              <a:pPr algn="ctr"/>
              <a:r>
                <a:rPr lang="en-US" sz="1200" dirty="0">
                  <a:solidFill>
                    <a:srgbClr val="002060"/>
                  </a:solidFill>
                </a:rPr>
                <a:t>ROC-AUC</a:t>
              </a:r>
            </a:p>
          </p:txBody>
        </p:sp>
        <p:sp>
          <p:nvSpPr>
            <p:cNvPr id="11" name="Rectangle: Rounded Corners 10">
              <a:extLst>
                <a:ext uri="{FF2B5EF4-FFF2-40B4-BE49-F238E27FC236}">
                  <a16:creationId xmlns:a16="http://schemas.microsoft.com/office/drawing/2014/main" id="{830AF4BB-019C-36A7-F494-595F1E1F6B33}"/>
                </a:ext>
              </a:extLst>
            </p:cNvPr>
            <p:cNvSpPr/>
            <p:nvPr/>
          </p:nvSpPr>
          <p:spPr>
            <a:xfrm>
              <a:off x="8204390" y="1152906"/>
              <a:ext cx="1907459" cy="725051"/>
            </a:xfrm>
            <a:prstGeom prst="roundRect">
              <a:avLst/>
            </a:prstGeom>
            <a:solidFill>
              <a:schemeClr val="tx2">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rgbClr val="002060"/>
                  </a:solidFill>
                  <a:effectLst>
                    <a:outerShdw blurRad="38100" dist="38100" dir="2700000" algn="tl">
                      <a:srgbClr val="000000">
                        <a:alpha val="43137"/>
                      </a:srgbClr>
                    </a:outerShdw>
                  </a:effectLst>
                </a:rPr>
                <a:t>2</a:t>
              </a:r>
            </a:p>
            <a:p>
              <a:pPr algn="ctr"/>
              <a:r>
                <a:rPr lang="en-US" sz="1200" dirty="0">
                  <a:solidFill>
                    <a:srgbClr val="002060"/>
                  </a:solidFill>
                </a:rPr>
                <a:t>Distinct Marketing Segments</a:t>
              </a:r>
            </a:p>
          </p:txBody>
        </p:sp>
      </p:grpSp>
    </p:spTree>
    <p:extLst>
      <p:ext uri="{BB962C8B-B14F-4D97-AF65-F5344CB8AC3E}">
        <p14:creationId xmlns:p14="http://schemas.microsoft.com/office/powerpoint/2010/main" val="3196253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8A819A-57D1-F3E9-0100-EAB4A644E8FF}"/>
              </a:ext>
            </a:extLst>
          </p:cNvPr>
          <p:cNvSpPr>
            <a:spLocks noGrp="1"/>
          </p:cNvSpPr>
          <p:nvPr>
            <p:ph type="title"/>
          </p:nvPr>
        </p:nvSpPr>
        <p:spPr>
          <a:xfrm>
            <a:off x="599768" y="316985"/>
            <a:ext cx="9852793" cy="730120"/>
          </a:xfrm>
        </p:spPr>
        <p:txBody>
          <a:bodyPr>
            <a:normAutofit/>
          </a:bodyPr>
          <a:lstStyle/>
          <a:p>
            <a:r>
              <a:rPr lang="en-US" b="1" dirty="0"/>
              <a:t>Business Problem Overview</a:t>
            </a:r>
          </a:p>
        </p:txBody>
      </p:sp>
      <p:sp>
        <p:nvSpPr>
          <p:cNvPr id="4" name="Date Placeholder 3">
            <a:extLst>
              <a:ext uri="{FF2B5EF4-FFF2-40B4-BE49-F238E27FC236}">
                <a16:creationId xmlns:a16="http://schemas.microsoft.com/office/drawing/2014/main" id="{86B43903-6ADB-ED39-40F5-C138A8196ACA}"/>
              </a:ext>
            </a:extLst>
          </p:cNvPr>
          <p:cNvSpPr>
            <a:spLocks noGrp="1"/>
          </p:cNvSpPr>
          <p:nvPr>
            <p:ph type="dt" sz="half" idx="10"/>
          </p:nvPr>
        </p:nvSpPr>
        <p:spPr/>
        <p:txBody>
          <a:bodyPr/>
          <a:lstStyle/>
          <a:p>
            <a:fld id="{29054E33-380E-4135-9A0F-6727C76882E3}" type="datetime1">
              <a:rPr lang="en-US" smtClean="0"/>
              <a:t>2/19/26</a:t>
            </a:fld>
            <a:endParaRPr lang="en-US"/>
          </a:p>
        </p:txBody>
      </p:sp>
      <p:sp>
        <p:nvSpPr>
          <p:cNvPr id="3" name="Footer Placeholder 2">
            <a:extLst>
              <a:ext uri="{FF2B5EF4-FFF2-40B4-BE49-F238E27FC236}">
                <a16:creationId xmlns:a16="http://schemas.microsoft.com/office/drawing/2014/main" id="{D1CA6008-6225-1B50-98F7-E825202BED0B}"/>
              </a:ext>
            </a:extLst>
          </p:cNvPr>
          <p:cNvSpPr>
            <a:spLocks noGrp="1"/>
          </p:cNvSpPr>
          <p:nvPr>
            <p:ph type="ftr" sz="quarter" idx="11"/>
          </p:nvPr>
        </p:nvSpPr>
        <p:spPr/>
        <p:txBody>
          <a:bodyPr/>
          <a:lstStyle/>
          <a:p>
            <a:r>
              <a:rPr lang="en-US"/>
              <a:t>Income Classification ML Project | Edison E Chukwuemeka</a:t>
            </a:r>
            <a:endParaRPr lang="en-US" sz="1100" dirty="0"/>
          </a:p>
        </p:txBody>
      </p:sp>
      <p:sp>
        <p:nvSpPr>
          <p:cNvPr id="2" name="Slide Number Placeholder 1">
            <a:extLst>
              <a:ext uri="{FF2B5EF4-FFF2-40B4-BE49-F238E27FC236}">
                <a16:creationId xmlns:a16="http://schemas.microsoft.com/office/drawing/2014/main" id="{3655547E-CC8B-8BC2-42B3-C145A6F0BEAC}"/>
              </a:ext>
            </a:extLst>
          </p:cNvPr>
          <p:cNvSpPr>
            <a:spLocks noGrp="1"/>
          </p:cNvSpPr>
          <p:nvPr>
            <p:ph type="sldNum" sz="quarter" idx="12"/>
          </p:nvPr>
        </p:nvSpPr>
        <p:spPr/>
        <p:txBody>
          <a:bodyPr/>
          <a:lstStyle/>
          <a:p>
            <a:fld id="{ACF67F9B-24B2-4C3B-9DFF-0BBDBF735F65}" type="slidenum">
              <a:rPr lang="en-US" smtClean="0"/>
              <a:t>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E81159-536A-3116-467F-F57B479FE34B}"/>
                  </a:ext>
                </a:extLst>
              </p:cNvPr>
              <p:cNvSpPr txBox="1"/>
              <p:nvPr/>
            </p:nvSpPr>
            <p:spPr>
              <a:xfrm>
                <a:off x="710929" y="1047105"/>
                <a:ext cx="10642871" cy="3416320"/>
              </a:xfrm>
              <a:prstGeom prst="rect">
                <a:avLst/>
              </a:prstGeom>
              <a:noFill/>
              <a:ln w="19050">
                <a:solidFill>
                  <a:schemeClr val="bg1">
                    <a:lumMod val="85000"/>
                  </a:schemeClr>
                </a:solidFill>
              </a:ln>
            </p:spPr>
            <p:txBody>
              <a:bodyPr wrap="square" rtlCol="0">
                <a:spAutoFit/>
              </a:bodyPr>
              <a:lstStyle/>
              <a:p>
                <a:r>
                  <a:rPr lang="en-US" b="1" dirty="0"/>
                  <a:t>Problem Statement:</a:t>
                </a:r>
              </a:p>
              <a:p>
                <a:r>
                  <a:rPr lang="en-US" dirty="0"/>
                  <a:t>The retail client  seeks to:</a:t>
                </a:r>
              </a:p>
              <a:p>
                <a:pPr marL="285750" indent="-285750">
                  <a:buFont typeface="Arial" panose="020B0604020202020204" pitchFamily="34" charset="0"/>
                  <a:buChar char="•"/>
                </a:pPr>
                <a:r>
                  <a:rPr lang="en-US" dirty="0"/>
                  <a:t>Improve marketing precision</a:t>
                </a:r>
              </a:p>
              <a:p>
                <a:pPr marL="285750" indent="-285750">
                  <a:buFont typeface="Arial" panose="020B0604020202020204" pitchFamily="34" charset="0"/>
                  <a:buChar char="•"/>
                </a:pPr>
                <a:r>
                  <a:rPr lang="en-US" dirty="0"/>
                  <a:t>Improve campaign ROI</a:t>
                </a:r>
              </a:p>
              <a:p>
                <a:pPr marL="285750" indent="-285750">
                  <a:buFont typeface="Arial" panose="020B0604020202020204" pitchFamily="34" charset="0"/>
                  <a:buChar char="•"/>
                </a:pPr>
                <a:r>
                  <a:rPr lang="en-US" dirty="0"/>
                  <a:t>Reduce outreach cost impact</a:t>
                </a:r>
              </a:p>
              <a:p>
                <a:pPr marL="285750" indent="-285750">
                  <a:buFont typeface="Arial" panose="020B0604020202020204" pitchFamily="34" charset="0"/>
                  <a:buChar char="•"/>
                </a:pPr>
                <a:r>
                  <a:rPr lang="en-US" dirty="0"/>
                  <a:t>Understand the customer structure</a:t>
                </a:r>
              </a:p>
              <a:p>
                <a:r>
                  <a:rPr lang="en-US" dirty="0"/>
                  <a:t>This is a binary classification problem with severe class imbalance (~6% high income earners) combined with a unsupervised customer segmentation problem.</a:t>
                </a:r>
              </a:p>
              <a:p>
                <a:r>
                  <a:rPr lang="en-US" b="1" dirty="0"/>
                  <a:t>Dataset Summary: </a:t>
                </a:r>
                <a:r>
                  <a:rPr lang="en-US" dirty="0"/>
                  <a:t>199523 weighted census observations with 40 demographics and employment features.</a:t>
                </a:r>
              </a:p>
              <a:p>
                <a:r>
                  <a:rPr lang="en-US" b="1" dirty="0"/>
                  <a:t>Target Summary:</a:t>
                </a:r>
              </a:p>
              <a:p>
                <a:pPr marL="742950" lvl="1" indent="-285750">
                  <a:buFont typeface="Arial" panose="020B0604020202020204" pitchFamily="34" charset="0"/>
                  <a:buChar char="•"/>
                </a:pPr>
                <a:r>
                  <a:rPr lang="en-US" dirty="0"/>
                  <a:t>People earning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50</m:t>
                    </m:r>
                    <m:r>
                      <a:rPr lang="en-US" b="0" i="1" smtClean="0">
                        <a:latin typeface="Cambria Math" panose="02040503050406030204" pitchFamily="18" charset="0"/>
                        <a:ea typeface="Cambria Math" panose="02040503050406030204" pitchFamily="18" charset="0"/>
                      </a:rPr>
                      <m:t>𝐾</m:t>
                    </m:r>
                  </m:oMath>
                </a14:m>
                <a:r>
                  <a:rPr lang="en-US" dirty="0"/>
                  <a:t> annually (~94%)</a:t>
                </a:r>
              </a:p>
              <a:p>
                <a:pPr marL="742950" lvl="1" indent="-285750">
                  <a:buFont typeface="Arial" panose="020B0604020202020204" pitchFamily="34" charset="0"/>
                  <a:buChar char="•"/>
                </a:pPr>
                <a:r>
                  <a:rPr lang="en-US" dirty="0"/>
                  <a:t>People earning </a:t>
                </a:r>
                <a14:m>
                  <m:oMath xmlns:m="http://schemas.openxmlformats.org/officeDocument/2006/math">
                    <m:r>
                      <a:rPr lang="en-US" b="0" i="1" smtClean="0">
                        <a:latin typeface="Cambria Math" panose="02040503050406030204" pitchFamily="18" charset="0"/>
                      </a:rPr>
                      <m:t>&gt;50</m:t>
                    </m:r>
                    <m:r>
                      <a:rPr lang="en-US" b="0" i="1" smtClean="0">
                        <a:latin typeface="Cambria Math" panose="02040503050406030204" pitchFamily="18" charset="0"/>
                      </a:rPr>
                      <m:t>𝐾</m:t>
                    </m:r>
                  </m:oMath>
                </a14:m>
                <a:r>
                  <a:rPr lang="en-US" dirty="0"/>
                  <a:t> annually (~6%)</a:t>
                </a:r>
              </a:p>
            </p:txBody>
          </p:sp>
        </mc:Choice>
        <mc:Fallback xmlns="">
          <p:sp>
            <p:nvSpPr>
              <p:cNvPr id="8" name="TextBox 7">
                <a:extLst>
                  <a:ext uri="{FF2B5EF4-FFF2-40B4-BE49-F238E27FC236}">
                    <a16:creationId xmlns:a16="http://schemas.microsoft.com/office/drawing/2014/main" id="{97E81159-536A-3116-467F-F57B479FE34B}"/>
                  </a:ext>
                </a:extLst>
              </p:cNvPr>
              <p:cNvSpPr txBox="1">
                <a:spLocks noRot="1" noChangeAspect="1" noMove="1" noResize="1" noEditPoints="1" noAdjustHandles="1" noChangeArrowheads="1" noChangeShapeType="1" noTextEdit="1"/>
              </p:cNvSpPr>
              <p:nvPr/>
            </p:nvSpPr>
            <p:spPr>
              <a:xfrm>
                <a:off x="710929" y="1047105"/>
                <a:ext cx="10642871" cy="3416320"/>
              </a:xfrm>
              <a:prstGeom prst="rect">
                <a:avLst/>
              </a:prstGeom>
              <a:blipFill>
                <a:blip r:embed="rId2"/>
                <a:stretch>
                  <a:fillRect l="-476" t="-738" b="-1476"/>
                </a:stretch>
              </a:blipFill>
              <a:ln w="19050">
                <a:solidFill>
                  <a:schemeClr val="bg1">
                    <a:lumMod val="85000"/>
                  </a:schemeClr>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073A6786-0000-BED1-F503-0F64D60AE2D1}"/>
              </a:ext>
            </a:extLst>
          </p:cNvPr>
          <p:cNvSpPr txBox="1"/>
          <p:nvPr/>
        </p:nvSpPr>
        <p:spPr>
          <a:xfrm>
            <a:off x="710930" y="4602024"/>
            <a:ext cx="10642870" cy="1754326"/>
          </a:xfrm>
          <a:prstGeom prst="rect">
            <a:avLst/>
          </a:prstGeom>
          <a:noFill/>
          <a:ln w="28575">
            <a:solidFill>
              <a:schemeClr val="bg1">
                <a:lumMod val="85000"/>
              </a:schemeClr>
            </a:solidFill>
          </a:ln>
        </p:spPr>
        <p:txBody>
          <a:bodyPr wrap="square" rtlCol="0">
            <a:spAutoFit/>
          </a:bodyPr>
          <a:lstStyle/>
          <a:p>
            <a:r>
              <a:rPr lang="en-US" b="1" dirty="0"/>
              <a:t>Deliverables</a:t>
            </a:r>
          </a:p>
          <a:p>
            <a:pPr marL="285750" indent="-285750">
              <a:buFont typeface="Wingdings" panose="05000000000000000000" pitchFamily="2" charset="2"/>
              <a:buChar char="§"/>
            </a:pPr>
            <a:r>
              <a:rPr lang="en-US" b="1" dirty="0"/>
              <a:t>Classification Model</a:t>
            </a:r>
            <a:endParaRPr lang="en-US" dirty="0"/>
          </a:p>
          <a:p>
            <a:pPr marL="742950" lvl="1" indent="-285750">
              <a:buFont typeface="Wingdings" panose="05000000000000000000" pitchFamily="2" charset="2"/>
              <a:buChar char="§"/>
            </a:pPr>
            <a:r>
              <a:rPr lang="en-US" dirty="0"/>
              <a:t>Predict the income class of any individual given demographic and employment features</a:t>
            </a:r>
          </a:p>
          <a:p>
            <a:pPr marL="285750" indent="-285750">
              <a:buFont typeface="Wingdings" panose="05000000000000000000" pitchFamily="2" charset="2"/>
              <a:buChar char="§"/>
            </a:pPr>
            <a:r>
              <a:rPr lang="en-US" b="1" dirty="0"/>
              <a:t>Segmentation Model</a:t>
            </a:r>
          </a:p>
          <a:p>
            <a:pPr marL="742950" lvl="1" indent="-285750">
              <a:buFont typeface="Wingdings" panose="05000000000000000000" pitchFamily="2" charset="2"/>
              <a:buChar char="§"/>
            </a:pPr>
            <a:r>
              <a:rPr lang="en-US" dirty="0"/>
              <a:t>Develop a machine learning pipeline to group the customer population.</a:t>
            </a:r>
          </a:p>
          <a:p>
            <a:endParaRPr lang="en-US" dirty="0"/>
          </a:p>
        </p:txBody>
      </p:sp>
    </p:spTree>
    <p:extLst>
      <p:ext uri="{BB962C8B-B14F-4D97-AF65-F5344CB8AC3E}">
        <p14:creationId xmlns:p14="http://schemas.microsoft.com/office/powerpoint/2010/main" val="1316275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2BEE6B-B331-EB83-2F26-C5B4BE7CE248}"/>
              </a:ext>
            </a:extLst>
          </p:cNvPr>
          <p:cNvSpPr>
            <a:spLocks noGrp="1"/>
          </p:cNvSpPr>
          <p:nvPr>
            <p:ph type="title"/>
          </p:nvPr>
        </p:nvSpPr>
        <p:spPr>
          <a:xfrm>
            <a:off x="374538" y="249270"/>
            <a:ext cx="9646314" cy="742574"/>
          </a:xfrm>
        </p:spPr>
        <p:txBody>
          <a:bodyPr>
            <a:normAutofit fontScale="90000"/>
          </a:bodyPr>
          <a:lstStyle/>
          <a:p>
            <a:r>
              <a:rPr lang="en-US" b="1" dirty="0"/>
              <a:t>Exploratory Data Analysis &amp; Preprocessing</a:t>
            </a:r>
          </a:p>
        </p:txBody>
      </p:sp>
      <p:sp>
        <p:nvSpPr>
          <p:cNvPr id="4" name="Date Placeholder 3">
            <a:extLst>
              <a:ext uri="{FF2B5EF4-FFF2-40B4-BE49-F238E27FC236}">
                <a16:creationId xmlns:a16="http://schemas.microsoft.com/office/drawing/2014/main" id="{9F9BE7DF-EF9B-2F5A-1B79-B0C80022A108}"/>
              </a:ext>
            </a:extLst>
          </p:cNvPr>
          <p:cNvSpPr>
            <a:spLocks noGrp="1"/>
          </p:cNvSpPr>
          <p:nvPr>
            <p:ph type="dt" sz="half" idx="10"/>
          </p:nvPr>
        </p:nvSpPr>
        <p:spPr/>
        <p:txBody>
          <a:bodyPr/>
          <a:lstStyle/>
          <a:p>
            <a:fld id="{29054E33-380E-4135-9A0F-6727C76882E3}" type="datetime1">
              <a:rPr lang="en-US" smtClean="0"/>
              <a:t>2/19/26</a:t>
            </a:fld>
            <a:endParaRPr lang="en-US"/>
          </a:p>
        </p:txBody>
      </p:sp>
      <p:sp>
        <p:nvSpPr>
          <p:cNvPr id="3" name="Footer Placeholder 2">
            <a:extLst>
              <a:ext uri="{FF2B5EF4-FFF2-40B4-BE49-F238E27FC236}">
                <a16:creationId xmlns:a16="http://schemas.microsoft.com/office/drawing/2014/main" id="{9F5D6FD8-C589-7F16-311A-21FD99ACB49A}"/>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2" name="Slide Number Placeholder 1">
            <a:extLst>
              <a:ext uri="{FF2B5EF4-FFF2-40B4-BE49-F238E27FC236}">
                <a16:creationId xmlns:a16="http://schemas.microsoft.com/office/drawing/2014/main" id="{50548550-E833-39DA-D56B-9F3D7EEE71B1}"/>
              </a:ext>
            </a:extLst>
          </p:cNvPr>
          <p:cNvSpPr>
            <a:spLocks noGrp="1"/>
          </p:cNvSpPr>
          <p:nvPr>
            <p:ph type="sldNum" sz="quarter" idx="12"/>
          </p:nvPr>
        </p:nvSpPr>
        <p:spPr/>
        <p:txBody>
          <a:bodyPr/>
          <a:lstStyle/>
          <a:p>
            <a:fld id="{ACF67F9B-24B2-4C3B-9DFF-0BBDBF735F65}" type="slidenum">
              <a:rPr lang="en-US" smtClean="0"/>
              <a:t>5</a:t>
            </a:fld>
            <a:endParaRPr lang="en-US"/>
          </a:p>
        </p:txBody>
      </p:sp>
      <p:sp>
        <p:nvSpPr>
          <p:cNvPr id="11" name="Text 13">
            <a:extLst>
              <a:ext uri="{FF2B5EF4-FFF2-40B4-BE49-F238E27FC236}">
                <a16:creationId xmlns:a16="http://schemas.microsoft.com/office/drawing/2014/main" id="{38B53E21-C6F1-F040-76FE-0A1A2DBC141E}"/>
              </a:ext>
            </a:extLst>
          </p:cNvPr>
          <p:cNvSpPr/>
          <p:nvPr/>
        </p:nvSpPr>
        <p:spPr>
          <a:xfrm>
            <a:off x="6425816" y="2057400"/>
            <a:ext cx="1810512" cy="1371600"/>
          </a:xfrm>
          <a:prstGeom prst="rect">
            <a:avLst/>
          </a:prstGeom>
          <a:noFill/>
          <a:ln/>
        </p:spPr>
        <p:txBody>
          <a:bodyPr wrap="square" lIns="0" tIns="0" rIns="0" bIns="0" rtlCol="0" anchor="ctr"/>
          <a:lstStyle/>
          <a:p>
            <a:pPr marL="0" indent="0">
              <a:buNone/>
            </a:pPr>
            <a:endParaRPr lang="en-US" sz="850" dirty="0"/>
          </a:p>
        </p:txBody>
      </p:sp>
      <p:sp>
        <p:nvSpPr>
          <p:cNvPr id="14" name="Rectangle: Rounded Corners 13">
            <a:extLst>
              <a:ext uri="{FF2B5EF4-FFF2-40B4-BE49-F238E27FC236}">
                <a16:creationId xmlns:a16="http://schemas.microsoft.com/office/drawing/2014/main" id="{8302B786-0E87-489C-59BB-C2C25A6DD255}"/>
              </a:ext>
            </a:extLst>
          </p:cNvPr>
          <p:cNvSpPr/>
          <p:nvPr/>
        </p:nvSpPr>
        <p:spPr>
          <a:xfrm>
            <a:off x="1113375" y="5065952"/>
            <a:ext cx="1964121" cy="12335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1E293B"/>
                </a:solidFill>
              </a:rPr>
              <a:t>Class Imbalance:</a:t>
            </a:r>
          </a:p>
          <a:p>
            <a:pPr algn="ctr"/>
            <a:r>
              <a:rPr lang="en-US" sz="1200" dirty="0">
                <a:solidFill>
                  <a:srgbClr val="1E293B"/>
                </a:solidFill>
              </a:rPr>
              <a:t>Only 6.21% earn ≥$50K — 15:1 ratio. Accuracy alone is misleading; ROC-AUC and balanced weighting are essential.</a:t>
            </a:r>
            <a:endParaRPr lang="en-US" sz="1200" dirty="0"/>
          </a:p>
          <a:p>
            <a:pPr algn="ctr"/>
            <a:endParaRPr lang="en-US" sz="1200" dirty="0"/>
          </a:p>
        </p:txBody>
      </p:sp>
      <p:sp>
        <p:nvSpPr>
          <p:cNvPr id="15" name="Rectangle: Rounded Corners 14">
            <a:extLst>
              <a:ext uri="{FF2B5EF4-FFF2-40B4-BE49-F238E27FC236}">
                <a16:creationId xmlns:a16="http://schemas.microsoft.com/office/drawing/2014/main" id="{7C130EA3-364E-B94F-191D-9D0973D547A0}"/>
              </a:ext>
            </a:extLst>
          </p:cNvPr>
          <p:cNvSpPr/>
          <p:nvPr/>
        </p:nvSpPr>
        <p:spPr>
          <a:xfrm>
            <a:off x="3233574" y="5049027"/>
            <a:ext cx="1964121" cy="12335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1E293B"/>
                </a:solidFill>
              </a:rPr>
              <a:t>Impact of Education:</a:t>
            </a:r>
          </a:p>
          <a:p>
            <a:pPr algn="ctr"/>
            <a:r>
              <a:rPr lang="en-US" sz="1200" dirty="0">
                <a:solidFill>
                  <a:srgbClr val="1E293B"/>
                </a:solidFill>
              </a:rPr>
              <a:t>Professional/PhD degree holders earn ≥$50K at 50%+. High school grads under 5%. Strongest categorical predictor.</a:t>
            </a:r>
            <a:endParaRPr lang="en-US" sz="1200" dirty="0"/>
          </a:p>
        </p:txBody>
      </p:sp>
      <p:sp>
        <p:nvSpPr>
          <p:cNvPr id="16" name="Rectangle: Rounded Corners 15">
            <a:extLst>
              <a:ext uri="{FF2B5EF4-FFF2-40B4-BE49-F238E27FC236}">
                <a16:creationId xmlns:a16="http://schemas.microsoft.com/office/drawing/2014/main" id="{F49459F6-53F6-BFD1-9391-B2DEE9D56708}"/>
              </a:ext>
            </a:extLst>
          </p:cNvPr>
          <p:cNvSpPr/>
          <p:nvPr/>
        </p:nvSpPr>
        <p:spPr>
          <a:xfrm>
            <a:off x="5366951" y="5046531"/>
            <a:ext cx="1964121" cy="12335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1E293B"/>
                </a:solidFill>
              </a:rPr>
              <a:t>Gender Imbalance:</a:t>
            </a:r>
          </a:p>
          <a:p>
            <a:pPr algn="ctr"/>
            <a:r>
              <a:rPr lang="en-US" sz="1200" dirty="0">
                <a:solidFill>
                  <a:srgbClr val="1E293B"/>
                </a:solidFill>
              </a:rPr>
              <a:t>Males earn ≥$50K at 10.1% vs females at 2.5%, reflecting 1994-95 labor market inequalities.</a:t>
            </a:r>
            <a:endParaRPr lang="en-US" sz="1200" dirty="0"/>
          </a:p>
        </p:txBody>
      </p:sp>
      <p:sp>
        <p:nvSpPr>
          <p:cNvPr id="17" name="Rectangle: Rounded Corners 16">
            <a:extLst>
              <a:ext uri="{FF2B5EF4-FFF2-40B4-BE49-F238E27FC236}">
                <a16:creationId xmlns:a16="http://schemas.microsoft.com/office/drawing/2014/main" id="{08E2AFC6-0A79-8FFF-5A12-321EAB78B161}"/>
              </a:ext>
            </a:extLst>
          </p:cNvPr>
          <p:cNvSpPr/>
          <p:nvPr/>
        </p:nvSpPr>
        <p:spPr>
          <a:xfrm>
            <a:off x="7500328" y="5046531"/>
            <a:ext cx="1964121" cy="12335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1E293B"/>
                </a:solidFill>
              </a:rPr>
              <a:t>Work Commitment</a:t>
            </a:r>
          </a:p>
          <a:p>
            <a:pPr algn="ctr"/>
            <a:r>
              <a:rPr lang="en-US" sz="1200" dirty="0">
                <a:solidFill>
                  <a:srgbClr val="1E293B"/>
                </a:solidFill>
              </a:rPr>
              <a:t>High earners work nearly 52 weeks/year. Low earners are dispersed across part-time and seasonal work.</a:t>
            </a:r>
            <a:endParaRPr lang="en-US" sz="1200" dirty="0"/>
          </a:p>
        </p:txBody>
      </p:sp>
      <p:pic>
        <p:nvPicPr>
          <p:cNvPr id="19" name="Picture 18">
            <a:extLst>
              <a:ext uri="{FF2B5EF4-FFF2-40B4-BE49-F238E27FC236}">
                <a16:creationId xmlns:a16="http://schemas.microsoft.com/office/drawing/2014/main" id="{0B8C6AE5-9F06-389D-40C3-6B10B8EEE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5165" y="4772888"/>
            <a:ext cx="2536833" cy="1691222"/>
          </a:xfrm>
          <a:prstGeom prst="rect">
            <a:avLst/>
          </a:prstGeom>
        </p:spPr>
      </p:pic>
      <p:pic>
        <p:nvPicPr>
          <p:cNvPr id="21" name="Picture 20">
            <a:extLst>
              <a:ext uri="{FF2B5EF4-FFF2-40B4-BE49-F238E27FC236}">
                <a16:creationId xmlns:a16="http://schemas.microsoft.com/office/drawing/2014/main" id="{0D27E243-4049-923B-E7EE-32798B35F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546" y="985964"/>
            <a:ext cx="2286069" cy="1926505"/>
          </a:xfrm>
          <a:prstGeom prst="rect">
            <a:avLst/>
          </a:prstGeom>
        </p:spPr>
      </p:pic>
      <p:pic>
        <p:nvPicPr>
          <p:cNvPr id="25" name="Picture 24">
            <a:extLst>
              <a:ext uri="{FF2B5EF4-FFF2-40B4-BE49-F238E27FC236}">
                <a16:creationId xmlns:a16="http://schemas.microsoft.com/office/drawing/2014/main" id="{A37FE933-F8AE-8968-6955-7CD647F9CD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0546" y="3079646"/>
            <a:ext cx="2286069" cy="1524046"/>
          </a:xfrm>
          <a:prstGeom prst="rect">
            <a:avLst/>
          </a:prstGeom>
        </p:spPr>
      </p:pic>
      <p:sp>
        <p:nvSpPr>
          <p:cNvPr id="27" name="Rectangle: Rounded Corners 26">
            <a:extLst>
              <a:ext uri="{FF2B5EF4-FFF2-40B4-BE49-F238E27FC236}">
                <a16:creationId xmlns:a16="http://schemas.microsoft.com/office/drawing/2014/main" id="{C900845E-D5F6-F1D6-351E-95AA45BDE649}"/>
              </a:ext>
            </a:extLst>
          </p:cNvPr>
          <p:cNvSpPr/>
          <p:nvPr/>
        </p:nvSpPr>
        <p:spPr>
          <a:xfrm>
            <a:off x="374538" y="1065619"/>
            <a:ext cx="5865895" cy="379660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200" b="1" dirty="0"/>
              <a:t>Class Imbalanced:</a:t>
            </a:r>
          </a:p>
          <a:p>
            <a:pPr marL="171450" indent="-171450">
              <a:buFont typeface="Arial" panose="020B0604020202020204" pitchFamily="34" charset="0"/>
              <a:buChar char="•"/>
            </a:pPr>
            <a:r>
              <a:rPr lang="en-US" sz="1200" dirty="0"/>
              <a:t>The dataset was imbalanced. Only 6% of the target class (high income earners) was available in the dataset.</a:t>
            </a:r>
          </a:p>
          <a:p>
            <a:pPr marL="171450" indent="-171450">
              <a:buFont typeface="Arial" panose="020B0604020202020204" pitchFamily="34" charset="0"/>
              <a:buChar char="•"/>
            </a:pPr>
            <a:r>
              <a:rPr lang="en-US" sz="1200" dirty="0"/>
              <a:t>Metrics of evaluation: Accuracy is not sufficient for evaluation. ROC-AUC metric is prioritized.</a:t>
            </a:r>
          </a:p>
          <a:p>
            <a:pPr marL="171450" indent="-171450">
              <a:buFont typeface="Arial" panose="020B0604020202020204" pitchFamily="34" charset="0"/>
              <a:buChar char="•"/>
            </a:pPr>
            <a:r>
              <a:rPr lang="en-US" sz="1200" dirty="0"/>
              <a:t>The imbalanced class was stratified using SMOTE algorithm during model training.</a:t>
            </a:r>
          </a:p>
          <a:p>
            <a:r>
              <a:rPr lang="en-US" sz="1200" b="1" dirty="0"/>
              <a:t>Missing Data:</a:t>
            </a:r>
          </a:p>
          <a:p>
            <a:pPr marL="285750" indent="-285750">
              <a:buFont typeface="Arial" panose="020B0604020202020204" pitchFamily="34" charset="0"/>
              <a:buChar char="•"/>
            </a:pPr>
            <a:r>
              <a:rPr lang="en-US" sz="1200" dirty="0"/>
              <a:t>‘?’ and ‘Not in Universe’ are missing values</a:t>
            </a:r>
          </a:p>
          <a:p>
            <a:pPr marL="285750" indent="-285750">
              <a:buFont typeface="Arial" panose="020B0604020202020204" pitchFamily="34" charset="0"/>
              <a:buChar char="•"/>
            </a:pPr>
            <a:r>
              <a:rPr lang="en-US" sz="1200" dirty="0"/>
              <a:t>Numerical features were imputed with median values</a:t>
            </a:r>
          </a:p>
          <a:p>
            <a:pPr marL="285750" indent="-285750">
              <a:buFont typeface="Arial" panose="020B0604020202020204" pitchFamily="34" charset="0"/>
              <a:buChar char="•"/>
            </a:pPr>
            <a:r>
              <a:rPr lang="en-US" sz="1200" dirty="0"/>
              <a:t>Categorical features were imputed with most-frequent data (mode)</a:t>
            </a:r>
          </a:p>
          <a:p>
            <a:pPr marL="285750" indent="-285750">
              <a:buFont typeface="Arial" panose="020B0604020202020204" pitchFamily="34" charset="0"/>
              <a:buChar char="•"/>
            </a:pPr>
            <a:r>
              <a:rPr lang="en-US" sz="1200" dirty="0"/>
              <a:t>Removed columns with  &gt; 70% missing values</a:t>
            </a:r>
          </a:p>
          <a:p>
            <a:pPr marL="285750" indent="-285750">
              <a:buFont typeface="Arial" panose="020B0604020202020204" pitchFamily="34" charset="0"/>
              <a:buChar char="•"/>
            </a:pPr>
            <a:r>
              <a:rPr lang="en-US" sz="1200" dirty="0"/>
              <a:t>Preprocessing were applied during cross-validation steps of the training</a:t>
            </a:r>
          </a:p>
          <a:p>
            <a:r>
              <a:rPr lang="en-US" sz="1200" b="1" dirty="0"/>
              <a:t>Feature Encoding:</a:t>
            </a:r>
          </a:p>
          <a:p>
            <a:pPr marL="171450" indent="-171450">
              <a:buFont typeface="Arial" panose="020B0604020202020204" pitchFamily="34" charset="0"/>
              <a:buChar char="•"/>
            </a:pPr>
            <a:r>
              <a:rPr lang="en-US" sz="1200" dirty="0"/>
              <a:t>Numeric features were standardized</a:t>
            </a:r>
          </a:p>
          <a:p>
            <a:pPr marL="171450" indent="-171450">
              <a:buFont typeface="Arial" panose="020B0604020202020204" pitchFamily="34" charset="0"/>
              <a:buChar char="•"/>
            </a:pPr>
            <a:r>
              <a:rPr lang="en-US" sz="1200" dirty="0"/>
              <a:t>Categorical features were encoded with the </a:t>
            </a:r>
            <a:r>
              <a:rPr lang="en-US" sz="1200" dirty="0" err="1"/>
              <a:t>OneHotEncoder</a:t>
            </a:r>
            <a:endParaRPr lang="en-US" sz="1200" dirty="0"/>
          </a:p>
          <a:p>
            <a:r>
              <a:rPr lang="en-US" sz="1200" b="1" dirty="0"/>
              <a:t>Train/Test Split:</a:t>
            </a:r>
          </a:p>
          <a:p>
            <a:pPr marL="285750" indent="-285750">
              <a:buFont typeface="Arial" panose="020B0604020202020204" pitchFamily="34" charset="0"/>
              <a:buChar char="•"/>
            </a:pPr>
            <a:r>
              <a:rPr lang="en-US" sz="1200" dirty="0"/>
              <a:t>The dataset was split in 70% Training and 30% Test</a:t>
            </a:r>
          </a:p>
          <a:p>
            <a:pPr marL="285750" indent="-285750">
              <a:buFont typeface="Arial" panose="020B0604020202020204" pitchFamily="34" charset="0"/>
              <a:buChar char="•"/>
            </a:pPr>
            <a:r>
              <a:rPr lang="en-US" sz="1200" dirty="0"/>
              <a:t>Cross validation fold= 5 was applied during model training.</a:t>
            </a:r>
          </a:p>
        </p:txBody>
      </p:sp>
      <p:pic>
        <p:nvPicPr>
          <p:cNvPr id="30" name="Picture 29">
            <a:extLst>
              <a:ext uri="{FF2B5EF4-FFF2-40B4-BE49-F238E27FC236}">
                <a16:creationId xmlns:a16="http://schemas.microsoft.com/office/drawing/2014/main" id="{A6EE70F7-477E-1F15-9227-75CD5881C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3373" y="1979249"/>
            <a:ext cx="2891790" cy="2891790"/>
          </a:xfrm>
          <a:prstGeom prst="rect">
            <a:avLst/>
          </a:prstGeom>
        </p:spPr>
      </p:pic>
    </p:spTree>
    <p:extLst>
      <p:ext uri="{BB962C8B-B14F-4D97-AF65-F5344CB8AC3E}">
        <p14:creationId xmlns:p14="http://schemas.microsoft.com/office/powerpoint/2010/main" val="104073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EB0E8-6E68-7EEF-5EED-B016180B1FF7}"/>
              </a:ext>
            </a:extLst>
          </p:cNvPr>
          <p:cNvSpPr>
            <a:spLocks noGrp="1"/>
          </p:cNvSpPr>
          <p:nvPr>
            <p:ph type="title"/>
          </p:nvPr>
        </p:nvSpPr>
        <p:spPr>
          <a:xfrm>
            <a:off x="230623" y="291394"/>
            <a:ext cx="10339054" cy="644251"/>
          </a:xfrm>
        </p:spPr>
        <p:txBody>
          <a:bodyPr>
            <a:normAutofit fontScale="90000"/>
          </a:bodyPr>
          <a:lstStyle/>
          <a:p>
            <a:r>
              <a:rPr lang="en-US" b="1" dirty="0"/>
              <a:t>Classification Model: Training and Evaluation</a:t>
            </a:r>
          </a:p>
        </p:txBody>
      </p:sp>
      <p:sp>
        <p:nvSpPr>
          <p:cNvPr id="3" name="Date Placeholder 2">
            <a:extLst>
              <a:ext uri="{FF2B5EF4-FFF2-40B4-BE49-F238E27FC236}">
                <a16:creationId xmlns:a16="http://schemas.microsoft.com/office/drawing/2014/main" id="{A4253FDA-859B-5C58-9457-A9BF335BE27A}"/>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023BA809-491B-5698-5BED-45D717653E13}"/>
              </a:ext>
            </a:extLst>
          </p:cNvPr>
          <p:cNvSpPr>
            <a:spLocks noGrp="1"/>
          </p:cNvSpPr>
          <p:nvPr>
            <p:ph type="ftr" sz="quarter" idx="11"/>
          </p:nvPr>
        </p:nvSpPr>
        <p:spPr/>
        <p:txBody>
          <a:bodyPr/>
          <a:lstStyle/>
          <a:p>
            <a:r>
              <a:rPr lang="en-US"/>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FDA4D5E3-0184-5BAC-6947-24E38CD9525E}"/>
              </a:ext>
            </a:extLst>
          </p:cNvPr>
          <p:cNvSpPr>
            <a:spLocks noGrp="1"/>
          </p:cNvSpPr>
          <p:nvPr>
            <p:ph type="sldNum" sz="quarter" idx="12"/>
          </p:nvPr>
        </p:nvSpPr>
        <p:spPr/>
        <p:txBody>
          <a:bodyPr/>
          <a:lstStyle/>
          <a:p>
            <a:fld id="{ACF67F9B-24B2-4C3B-9DFF-0BBDBF735F65}" type="slidenum">
              <a:rPr lang="en-US" smtClean="0"/>
              <a:t>6</a:t>
            </a:fld>
            <a:endParaRPr lang="en-US"/>
          </a:p>
        </p:txBody>
      </p:sp>
      <p:graphicFrame>
        <p:nvGraphicFramePr>
          <p:cNvPr id="6" name="Table 0">
            <a:extLst>
              <a:ext uri="{FF2B5EF4-FFF2-40B4-BE49-F238E27FC236}">
                <a16:creationId xmlns:a16="http://schemas.microsoft.com/office/drawing/2014/main" id="{96205CB1-2C1B-7E4A-69DB-016A9294A042}"/>
              </a:ext>
            </a:extLst>
          </p:cNvPr>
          <p:cNvGraphicFramePr>
            <a:graphicFrameLocks noGrp="1"/>
          </p:cNvGraphicFramePr>
          <p:nvPr>
            <p:extLst>
              <p:ext uri="{D42A27DB-BD31-4B8C-83A1-F6EECF244321}">
                <p14:modId xmlns:p14="http://schemas.microsoft.com/office/powerpoint/2010/main" val="3802273013"/>
              </p:ext>
            </p:extLst>
          </p:nvPr>
        </p:nvGraphicFramePr>
        <p:xfrm>
          <a:off x="630454" y="4851438"/>
          <a:ext cx="5901891" cy="1339218"/>
        </p:xfrm>
        <a:graphic>
          <a:graphicData uri="http://schemas.openxmlformats.org/drawingml/2006/table">
            <a:tbl>
              <a:tblPr/>
              <a:tblGrid>
                <a:gridCol w="1489797">
                  <a:extLst>
                    <a:ext uri="{9D8B030D-6E8A-4147-A177-3AD203B41FA5}">
                      <a16:colId xmlns:a16="http://schemas.microsoft.com/office/drawing/2014/main" val="20000"/>
                    </a:ext>
                  </a:extLst>
                </a:gridCol>
                <a:gridCol w="859499">
                  <a:extLst>
                    <a:ext uri="{9D8B030D-6E8A-4147-A177-3AD203B41FA5}">
                      <a16:colId xmlns:a16="http://schemas.microsoft.com/office/drawing/2014/main" val="20001"/>
                    </a:ext>
                  </a:extLst>
                </a:gridCol>
                <a:gridCol w="1031398">
                  <a:extLst>
                    <a:ext uri="{9D8B030D-6E8A-4147-A177-3AD203B41FA5}">
                      <a16:colId xmlns:a16="http://schemas.microsoft.com/office/drawing/2014/main" val="20002"/>
                    </a:ext>
                  </a:extLst>
                </a:gridCol>
                <a:gridCol w="916799">
                  <a:extLst>
                    <a:ext uri="{9D8B030D-6E8A-4147-A177-3AD203B41FA5}">
                      <a16:colId xmlns:a16="http://schemas.microsoft.com/office/drawing/2014/main" val="20003"/>
                    </a:ext>
                  </a:extLst>
                </a:gridCol>
                <a:gridCol w="802199">
                  <a:extLst>
                    <a:ext uri="{9D8B030D-6E8A-4147-A177-3AD203B41FA5}">
                      <a16:colId xmlns:a16="http://schemas.microsoft.com/office/drawing/2014/main" val="20004"/>
                    </a:ext>
                  </a:extLst>
                </a:gridCol>
                <a:gridCol w="802199">
                  <a:extLst>
                    <a:ext uri="{9D8B030D-6E8A-4147-A177-3AD203B41FA5}">
                      <a16:colId xmlns:a16="http://schemas.microsoft.com/office/drawing/2014/main" val="20005"/>
                    </a:ext>
                  </a:extLst>
                </a:gridCol>
              </a:tblGrid>
              <a:tr h="385750">
                <a:tc>
                  <a:txBody>
                    <a:bodyPr/>
                    <a:lstStyle/>
                    <a:p>
                      <a:pPr marL="0" indent="0">
                        <a:buNone/>
                      </a:pPr>
                      <a:r>
                        <a:rPr lang="en-US" sz="1000" b="1" dirty="0">
                          <a:solidFill>
                            <a:srgbClr val="FFFFFF"/>
                          </a:solidFill>
                        </a:rPr>
                        <a:t>Model</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rPr>
                        <a:t>ROC-AUC (Test)</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rPr>
                        <a:t>Accuracy</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rPr>
                        <a:t>Precision (≥$50K)</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rPr>
                        <a:t>Recall (≥$50K)</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rPr>
                        <a:t>Selected</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85750">
                <a:tc>
                  <a:txBody>
                    <a:bodyPr/>
                    <a:lstStyle/>
                    <a:p>
                      <a:pPr marL="0" indent="0" algn="l">
                        <a:buNone/>
                      </a:pPr>
                      <a:r>
                        <a:rPr lang="en-US" sz="1000" dirty="0">
                          <a:solidFill>
                            <a:srgbClr val="1E293B"/>
                          </a:solidFill>
                        </a:rPr>
                        <a:t>Logistic Regression (Baseline)</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rPr>
                        <a:t>94.46%</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rPr>
                        <a:t>84.84%</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rPr>
                        <a:t>28%</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rPr>
                        <a:t>89.77%</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rPr>
                        <a:t>Baseline</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273369">
                <a:tc>
                  <a:txBody>
                    <a:bodyPr/>
                    <a:lstStyle/>
                    <a:p>
                      <a:pPr marL="0" indent="0" algn="l">
                        <a:buNone/>
                      </a:pPr>
                      <a:r>
                        <a:rPr lang="en-US" sz="1000" dirty="0">
                          <a:solidFill>
                            <a:srgbClr val="1E293B"/>
                          </a:solidFill>
                        </a:rPr>
                        <a:t>Random Forest</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94.25%</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94.91%</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60.86%</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54.02%</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3369">
                <a:tc>
                  <a:txBody>
                    <a:bodyPr/>
                    <a:lstStyle/>
                    <a:p>
                      <a:pPr marL="0" indent="0" algn="l">
                        <a:buNone/>
                      </a:pPr>
                      <a:r>
                        <a:rPr lang="en-US" sz="1000" dirty="0">
                          <a:solidFill>
                            <a:srgbClr val="1E293B"/>
                          </a:solidFill>
                        </a:rPr>
                        <a:t>Gradient Boosting ✓</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tc>
                  <a:txBody>
                    <a:bodyPr/>
                    <a:lstStyle/>
                    <a:p>
                      <a:pPr marL="0" indent="0" algn="ctr">
                        <a:buNone/>
                      </a:pPr>
                      <a:r>
                        <a:rPr lang="en-US" sz="1000" dirty="0">
                          <a:solidFill>
                            <a:srgbClr val="1E293B"/>
                          </a:solidFill>
                        </a:rPr>
                        <a:t>94.82%</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tc>
                  <a:txBody>
                    <a:bodyPr/>
                    <a:lstStyle/>
                    <a:p>
                      <a:pPr marL="0" indent="0" algn="ctr">
                        <a:buNone/>
                      </a:pPr>
                      <a:r>
                        <a:rPr lang="en-US" sz="1000" dirty="0">
                          <a:solidFill>
                            <a:srgbClr val="1E293B"/>
                          </a:solidFill>
                        </a:rPr>
                        <a:t>95.09%</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tc>
                  <a:txBody>
                    <a:bodyPr/>
                    <a:lstStyle/>
                    <a:p>
                      <a:pPr marL="0" indent="0" algn="ctr">
                        <a:buNone/>
                      </a:pPr>
                      <a:r>
                        <a:rPr lang="en-US" sz="1000" dirty="0">
                          <a:solidFill>
                            <a:srgbClr val="1E293B"/>
                          </a:solidFill>
                        </a:rPr>
                        <a:t>62.24</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tc>
                  <a:txBody>
                    <a:bodyPr/>
                    <a:lstStyle/>
                    <a:p>
                      <a:pPr marL="0" indent="0" algn="ctr">
                        <a:buNone/>
                      </a:pPr>
                      <a:r>
                        <a:rPr lang="en-US" sz="1000" dirty="0">
                          <a:solidFill>
                            <a:srgbClr val="1E293B"/>
                          </a:solidFill>
                        </a:rPr>
                        <a:t>56.47%</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tc>
                  <a:txBody>
                    <a:bodyPr/>
                    <a:lstStyle/>
                    <a:p>
                      <a:pPr marL="0" indent="0" algn="ctr">
                        <a:buNone/>
                      </a:pPr>
                      <a:r>
                        <a:rPr lang="en-US" sz="1000" b="1" dirty="0">
                          <a:solidFill>
                            <a:srgbClr val="166534"/>
                          </a:solidFill>
                        </a:rPr>
                        <a:t>★ BEST</a:t>
                      </a:r>
                      <a:endParaRPr lang="en-US" sz="1000" dirty="0"/>
                    </a:p>
                  </a:txBody>
                  <a:tcPr>
                    <a:lnL w="6350" cap="flat" cmpd="sng" algn="ctr">
                      <a:solidFill>
                        <a:srgbClr val="D1DCED"/>
                      </a:solidFill>
                      <a:prstDash val="solid"/>
                      <a:round/>
                      <a:headEnd type="none" w="med" len="med"/>
                      <a:tailEnd type="none" w="med" len="med"/>
                    </a:lnL>
                    <a:lnR w="6350" cap="flat" cmpd="sng" algn="ctr">
                      <a:solidFill>
                        <a:srgbClr val="D1DCED"/>
                      </a:solidFill>
                      <a:prstDash val="solid"/>
                      <a:round/>
                      <a:headEnd type="none" w="med" len="med"/>
                      <a:tailEnd type="none" w="med" len="med"/>
                    </a:lnR>
                    <a:lnT w="6350" cap="flat" cmpd="sng" algn="ctr">
                      <a:solidFill>
                        <a:srgbClr val="D1DCED"/>
                      </a:solidFill>
                      <a:prstDash val="solid"/>
                      <a:round/>
                      <a:headEnd type="none" w="med" len="med"/>
                      <a:tailEnd type="none" w="med" len="med"/>
                    </a:lnT>
                    <a:lnB w="6350" cap="flat" cmpd="sng" algn="ctr">
                      <a:solidFill>
                        <a:srgbClr val="D1DCED"/>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58A65D7A-5131-FDD0-68FF-9F36634743A6}"/>
              </a:ext>
            </a:extLst>
          </p:cNvPr>
          <p:cNvSpPr txBox="1"/>
          <p:nvPr/>
        </p:nvSpPr>
        <p:spPr>
          <a:xfrm>
            <a:off x="509594" y="935645"/>
            <a:ext cx="5004619" cy="2180228"/>
          </a:xfrm>
          <a:prstGeom prst="rect">
            <a:avLst/>
          </a:prstGeom>
          <a:noFill/>
        </p:spPr>
        <p:txBody>
          <a:bodyPr wrap="square" rtlCol="0">
            <a:spAutoFit/>
          </a:bodyPr>
          <a:lstStyle/>
          <a:p>
            <a:r>
              <a:rPr lang="en-US" sz="1200" b="1" dirty="0"/>
              <a:t>Models:</a:t>
            </a:r>
            <a:r>
              <a:rPr lang="en-US" sz="1200" dirty="0"/>
              <a:t> </a:t>
            </a:r>
            <a:r>
              <a:rPr lang="en-US" sz="1200" b="1" dirty="0"/>
              <a:t>Logistic Regression | </a:t>
            </a:r>
            <a:r>
              <a:rPr lang="en-US" sz="1200" b="1" dirty="0" err="1"/>
              <a:t>RandomForest</a:t>
            </a:r>
            <a:r>
              <a:rPr lang="en-US" sz="1200" b="1" dirty="0"/>
              <a:t> | </a:t>
            </a:r>
            <a:r>
              <a:rPr lang="en-US" sz="1200" b="1" dirty="0" err="1"/>
              <a:t>XGBoost</a:t>
            </a:r>
            <a:endParaRPr lang="en-US" sz="1200" b="1" dirty="0"/>
          </a:p>
          <a:p>
            <a:pPr marL="285750" indent="-285750">
              <a:buFont typeface="Arial" panose="020B0604020202020204" pitchFamily="34" charset="0"/>
              <a:buChar char="•"/>
            </a:pPr>
            <a:r>
              <a:rPr lang="en-US" sz="1200" dirty="0"/>
              <a:t>Models were trained and evaluated using a balanced stratified 5-fold sets of dataset.</a:t>
            </a:r>
          </a:p>
          <a:p>
            <a:pPr marL="285750" indent="-285750">
              <a:buFont typeface="Arial" panose="020B0604020202020204" pitchFamily="34" charset="0"/>
              <a:buChar char="•"/>
            </a:pPr>
            <a:r>
              <a:rPr lang="en-US" sz="1200" dirty="0"/>
              <a:t>Evaluation metric was ROC-AUC scores. The metric generalizes as a good metric for classification because it encompasses other metrics accuracy, precision, recall.</a:t>
            </a:r>
          </a:p>
          <a:p>
            <a:pPr marL="285750" indent="-285750">
              <a:buFont typeface="Arial" panose="020B0604020202020204" pitchFamily="34" charset="0"/>
              <a:buChar char="•"/>
            </a:pPr>
            <a:r>
              <a:rPr lang="en-US" sz="1200" dirty="0"/>
              <a:t>Hyper-parameter tuning of the model parameters indicated that the optimal parameters of the models demonstrated a high ROC-AUC score of above 94%.</a:t>
            </a:r>
          </a:p>
          <a:p>
            <a:pPr marL="285750" indent="-285750">
              <a:buFont typeface="Arial" panose="020B0604020202020204" pitchFamily="34" charset="0"/>
              <a:buChar char="•"/>
            </a:pPr>
            <a:r>
              <a:rPr lang="en-US" sz="1200" dirty="0" err="1"/>
              <a:t>XGBoost</a:t>
            </a:r>
            <a:r>
              <a:rPr lang="en-US" sz="1200" dirty="0"/>
              <a:t> model evaluated higher than other models using the ROC-AUC score. The ROC-AUC score is 94.82%</a:t>
            </a:r>
          </a:p>
        </p:txBody>
      </p:sp>
      <p:pic>
        <p:nvPicPr>
          <p:cNvPr id="9" name="Picture 8">
            <a:extLst>
              <a:ext uri="{FF2B5EF4-FFF2-40B4-BE49-F238E27FC236}">
                <a16:creationId xmlns:a16="http://schemas.microsoft.com/office/drawing/2014/main" id="{12C8218E-0E1E-F0A5-BC8A-CE3841FA7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5272" y="4595667"/>
            <a:ext cx="2536728" cy="1691151"/>
          </a:xfrm>
          <a:prstGeom prst="rect">
            <a:avLst/>
          </a:prstGeom>
        </p:spPr>
      </p:pic>
      <p:pic>
        <p:nvPicPr>
          <p:cNvPr id="11" name="Picture 10">
            <a:extLst>
              <a:ext uri="{FF2B5EF4-FFF2-40B4-BE49-F238E27FC236}">
                <a16:creationId xmlns:a16="http://schemas.microsoft.com/office/drawing/2014/main" id="{8D73CD1C-668F-F4C2-D2B6-9D2184DDE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5088" y="1172401"/>
            <a:ext cx="2328404" cy="1552269"/>
          </a:xfrm>
          <a:prstGeom prst="rect">
            <a:avLst/>
          </a:prstGeom>
        </p:spPr>
      </p:pic>
      <p:pic>
        <p:nvPicPr>
          <p:cNvPr id="13" name="Picture 12">
            <a:extLst>
              <a:ext uri="{FF2B5EF4-FFF2-40B4-BE49-F238E27FC236}">
                <a16:creationId xmlns:a16="http://schemas.microsoft.com/office/drawing/2014/main" id="{EE7A85E3-A504-CE38-E82E-803B8D6E2C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026927"/>
            <a:ext cx="3460961" cy="2595721"/>
          </a:xfrm>
          <a:prstGeom prst="rect">
            <a:avLst/>
          </a:prstGeom>
        </p:spPr>
      </p:pic>
      <p:pic>
        <p:nvPicPr>
          <p:cNvPr id="15" name="Picture 14">
            <a:extLst>
              <a:ext uri="{FF2B5EF4-FFF2-40B4-BE49-F238E27FC236}">
                <a16:creationId xmlns:a16="http://schemas.microsoft.com/office/drawing/2014/main" id="{1D0D650C-D3A7-27AD-EE06-4A353F124E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3607" y="2907233"/>
            <a:ext cx="2385557" cy="1590371"/>
          </a:xfrm>
          <a:prstGeom prst="rect">
            <a:avLst/>
          </a:prstGeom>
        </p:spPr>
      </p:pic>
      <p:pic>
        <p:nvPicPr>
          <p:cNvPr id="16" name="Picture 15">
            <a:extLst>
              <a:ext uri="{FF2B5EF4-FFF2-40B4-BE49-F238E27FC236}">
                <a16:creationId xmlns:a16="http://schemas.microsoft.com/office/drawing/2014/main" id="{111E6741-D4ED-532B-F3AE-72DC8EDF9FA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118557" y="3754809"/>
            <a:ext cx="2536728" cy="2536728"/>
          </a:xfrm>
          <a:prstGeom prst="rect">
            <a:avLst/>
          </a:prstGeom>
        </p:spPr>
      </p:pic>
      <p:pic>
        <p:nvPicPr>
          <p:cNvPr id="18" name="Picture 17">
            <a:extLst>
              <a:ext uri="{FF2B5EF4-FFF2-40B4-BE49-F238E27FC236}">
                <a16:creationId xmlns:a16="http://schemas.microsoft.com/office/drawing/2014/main" id="{AA6103E7-4DBE-CAF1-2E03-B411ABF213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1399" y="3079805"/>
            <a:ext cx="2064779" cy="1605939"/>
          </a:xfrm>
          <a:prstGeom prst="rect">
            <a:avLst/>
          </a:prstGeom>
        </p:spPr>
      </p:pic>
    </p:spTree>
    <p:extLst>
      <p:ext uri="{BB962C8B-B14F-4D97-AF65-F5344CB8AC3E}">
        <p14:creationId xmlns:p14="http://schemas.microsoft.com/office/powerpoint/2010/main" val="3229665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039ED-AA1A-E47C-567A-E134522D15BC}"/>
              </a:ext>
            </a:extLst>
          </p:cNvPr>
          <p:cNvSpPr>
            <a:spLocks noGrp="1"/>
          </p:cNvSpPr>
          <p:nvPr>
            <p:ph type="title"/>
          </p:nvPr>
        </p:nvSpPr>
        <p:spPr>
          <a:xfrm>
            <a:off x="215282" y="260199"/>
            <a:ext cx="10019940" cy="673748"/>
          </a:xfrm>
        </p:spPr>
        <p:txBody>
          <a:bodyPr>
            <a:normAutofit fontScale="90000"/>
          </a:bodyPr>
          <a:lstStyle/>
          <a:p>
            <a:r>
              <a:rPr lang="en-US" b="1" dirty="0"/>
              <a:t>Segmentation Model: Clustering</a:t>
            </a:r>
          </a:p>
        </p:txBody>
      </p:sp>
      <p:sp>
        <p:nvSpPr>
          <p:cNvPr id="3" name="Date Placeholder 2">
            <a:extLst>
              <a:ext uri="{FF2B5EF4-FFF2-40B4-BE49-F238E27FC236}">
                <a16:creationId xmlns:a16="http://schemas.microsoft.com/office/drawing/2014/main" id="{0BA851DB-7D76-D4A7-92A8-2D6079F5ED80}"/>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DD549CA4-EC90-9DF4-0305-84F4AAEA25C8}"/>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183919CE-54BB-E4C1-921C-503D9911397C}"/>
              </a:ext>
            </a:extLst>
          </p:cNvPr>
          <p:cNvSpPr>
            <a:spLocks noGrp="1"/>
          </p:cNvSpPr>
          <p:nvPr>
            <p:ph type="sldNum" sz="quarter" idx="12"/>
          </p:nvPr>
        </p:nvSpPr>
        <p:spPr/>
        <p:txBody>
          <a:bodyPr/>
          <a:lstStyle/>
          <a:p>
            <a:fld id="{ACF67F9B-24B2-4C3B-9DFF-0BBDBF735F65}" type="slidenum">
              <a:rPr lang="en-US" smtClean="0"/>
              <a:t>7</a:t>
            </a:fld>
            <a:endParaRPr lang="en-US"/>
          </a:p>
        </p:txBody>
      </p:sp>
      <p:grpSp>
        <p:nvGrpSpPr>
          <p:cNvPr id="13" name="Group 12">
            <a:extLst>
              <a:ext uri="{FF2B5EF4-FFF2-40B4-BE49-F238E27FC236}">
                <a16:creationId xmlns:a16="http://schemas.microsoft.com/office/drawing/2014/main" id="{3260AE62-C321-43E5-9AB8-40A84484AE51}"/>
              </a:ext>
            </a:extLst>
          </p:cNvPr>
          <p:cNvGrpSpPr/>
          <p:nvPr/>
        </p:nvGrpSpPr>
        <p:grpSpPr>
          <a:xfrm>
            <a:off x="822864" y="1188222"/>
            <a:ext cx="10355904" cy="673748"/>
            <a:chOff x="1054431" y="1354274"/>
            <a:chExt cx="10355904" cy="673748"/>
          </a:xfrm>
        </p:grpSpPr>
        <p:sp>
          <p:nvSpPr>
            <p:cNvPr id="6" name="Rectangle: Rounded Corners 5">
              <a:extLst>
                <a:ext uri="{FF2B5EF4-FFF2-40B4-BE49-F238E27FC236}">
                  <a16:creationId xmlns:a16="http://schemas.microsoft.com/office/drawing/2014/main" id="{BB9CB138-8EBB-434D-444C-48FBABFB7143}"/>
                </a:ext>
              </a:extLst>
            </p:cNvPr>
            <p:cNvSpPr/>
            <p:nvPr/>
          </p:nvSpPr>
          <p:spPr>
            <a:xfrm>
              <a:off x="1054431" y="1354274"/>
              <a:ext cx="2332782" cy="6737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t>Step 1: Preprocessing</a:t>
              </a:r>
            </a:p>
            <a:p>
              <a:pPr algn="ctr"/>
              <a:r>
                <a:rPr lang="en-US" sz="1000" dirty="0"/>
                <a:t>Scale Numeric features (</a:t>
              </a:r>
              <a:r>
                <a:rPr lang="en-US" sz="1000" dirty="0" err="1"/>
                <a:t>Standardscaler</a:t>
              </a:r>
              <a:r>
                <a:rPr lang="en-US" sz="1000" dirty="0"/>
                <a:t>)</a:t>
              </a:r>
            </a:p>
            <a:p>
              <a:pPr algn="ctr"/>
              <a:r>
                <a:rPr lang="en-US" sz="1000" dirty="0" err="1"/>
                <a:t>OneHotEncode</a:t>
              </a:r>
              <a:r>
                <a:rPr lang="en-US" sz="1000" dirty="0"/>
                <a:t> Categorical Features</a:t>
              </a:r>
            </a:p>
            <a:p>
              <a:pPr algn="ctr"/>
              <a:r>
                <a:rPr lang="en-US" sz="1000" dirty="0"/>
                <a:t>[300+ dimensions]</a:t>
              </a:r>
            </a:p>
          </p:txBody>
        </p:sp>
        <p:sp>
          <p:nvSpPr>
            <p:cNvPr id="8" name="Rectangle: Rounded Corners 7">
              <a:extLst>
                <a:ext uri="{FF2B5EF4-FFF2-40B4-BE49-F238E27FC236}">
                  <a16:creationId xmlns:a16="http://schemas.microsoft.com/office/drawing/2014/main" id="{583C0362-6E2E-FA61-CC20-DE6600F79130}"/>
                </a:ext>
              </a:extLst>
            </p:cNvPr>
            <p:cNvSpPr/>
            <p:nvPr/>
          </p:nvSpPr>
          <p:spPr>
            <a:xfrm>
              <a:off x="3763218" y="1354274"/>
              <a:ext cx="2332782" cy="6737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t>Step 2: PCA Dimension Reduction</a:t>
              </a:r>
            </a:p>
            <a:p>
              <a:pPr algn="ctr"/>
              <a:r>
                <a:rPr lang="en-US" sz="1000" dirty="0"/>
                <a:t>61 components with 95% variance </a:t>
              </a:r>
            </a:p>
          </p:txBody>
        </p:sp>
        <p:sp>
          <p:nvSpPr>
            <p:cNvPr id="9" name="Rectangle: Rounded Corners 8">
              <a:extLst>
                <a:ext uri="{FF2B5EF4-FFF2-40B4-BE49-F238E27FC236}">
                  <a16:creationId xmlns:a16="http://schemas.microsoft.com/office/drawing/2014/main" id="{D59CF6CA-35B4-6F68-1B01-8BC74F7B670E}"/>
                </a:ext>
              </a:extLst>
            </p:cNvPr>
            <p:cNvSpPr/>
            <p:nvPr/>
          </p:nvSpPr>
          <p:spPr>
            <a:xfrm>
              <a:off x="6368766" y="1354274"/>
              <a:ext cx="2332782" cy="6737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t>Step 3: Optimal K selection</a:t>
              </a:r>
            </a:p>
            <a:p>
              <a:pPr algn="ctr"/>
              <a:r>
                <a:rPr lang="en-US" sz="1000" dirty="0"/>
                <a:t>Using the Silhouette and Elbow method, the optimal clusters k is computed</a:t>
              </a:r>
            </a:p>
          </p:txBody>
        </p:sp>
        <p:sp>
          <p:nvSpPr>
            <p:cNvPr id="10" name="Rectangle: Rounded Corners 9">
              <a:extLst>
                <a:ext uri="{FF2B5EF4-FFF2-40B4-BE49-F238E27FC236}">
                  <a16:creationId xmlns:a16="http://schemas.microsoft.com/office/drawing/2014/main" id="{7D0F6D6F-F930-7C93-5F6A-47E30B62C3A0}"/>
                </a:ext>
              </a:extLst>
            </p:cNvPr>
            <p:cNvSpPr/>
            <p:nvPr/>
          </p:nvSpPr>
          <p:spPr>
            <a:xfrm>
              <a:off x="9077553" y="1354274"/>
              <a:ext cx="2332782" cy="6737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t>Step 4: KMEANS (k=2)</a:t>
              </a:r>
            </a:p>
            <a:p>
              <a:pPr algn="ctr"/>
              <a:r>
                <a:rPr lang="en-US" sz="1000" dirty="0"/>
                <a:t>Use the optimal cluster size k=2</a:t>
              </a:r>
            </a:p>
          </p:txBody>
        </p:sp>
        <p:sp>
          <p:nvSpPr>
            <p:cNvPr id="11" name="Arrow: Right 10">
              <a:extLst>
                <a:ext uri="{FF2B5EF4-FFF2-40B4-BE49-F238E27FC236}">
                  <a16:creationId xmlns:a16="http://schemas.microsoft.com/office/drawing/2014/main" id="{EFD391FB-0A65-0019-F9F1-757D9D5AE42A}"/>
                </a:ext>
              </a:extLst>
            </p:cNvPr>
            <p:cNvSpPr/>
            <p:nvPr/>
          </p:nvSpPr>
          <p:spPr>
            <a:xfrm>
              <a:off x="6003783" y="1596267"/>
              <a:ext cx="560439" cy="94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30B56A58-A1D1-B24E-8366-AAE485F952B2}"/>
                </a:ext>
              </a:extLst>
            </p:cNvPr>
            <p:cNvSpPr/>
            <p:nvPr/>
          </p:nvSpPr>
          <p:spPr>
            <a:xfrm>
              <a:off x="8609331" y="1596267"/>
              <a:ext cx="560439" cy="94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231AC5A1-451B-92AE-9A80-2EDEB55E951C}"/>
                </a:ext>
              </a:extLst>
            </p:cNvPr>
            <p:cNvSpPr/>
            <p:nvPr/>
          </p:nvSpPr>
          <p:spPr>
            <a:xfrm>
              <a:off x="3293806" y="1645428"/>
              <a:ext cx="560439" cy="94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1FABD7C4-CD15-9FE9-01BF-9DDE8D70A714}"/>
              </a:ext>
            </a:extLst>
          </p:cNvPr>
          <p:cNvSpPr txBox="1"/>
          <p:nvPr/>
        </p:nvSpPr>
        <p:spPr>
          <a:xfrm>
            <a:off x="1544252" y="776823"/>
            <a:ext cx="4074296" cy="338554"/>
          </a:xfrm>
          <a:prstGeom prst="rect">
            <a:avLst/>
          </a:prstGeom>
          <a:noFill/>
        </p:spPr>
        <p:txBody>
          <a:bodyPr wrap="square" rtlCol="0">
            <a:spAutoFit/>
          </a:bodyPr>
          <a:lstStyle/>
          <a:p>
            <a:r>
              <a:rPr lang="en-US" sz="1600" b="1" dirty="0"/>
              <a:t>KMEANS CLUSTERING ALGORITHM</a:t>
            </a:r>
          </a:p>
        </p:txBody>
      </p:sp>
      <p:sp>
        <p:nvSpPr>
          <p:cNvPr id="17" name="TextBox 16">
            <a:extLst>
              <a:ext uri="{FF2B5EF4-FFF2-40B4-BE49-F238E27FC236}">
                <a16:creationId xmlns:a16="http://schemas.microsoft.com/office/drawing/2014/main" id="{6A593E1A-924F-E93E-C826-AEC61C415C09}"/>
              </a:ext>
            </a:extLst>
          </p:cNvPr>
          <p:cNvSpPr txBox="1"/>
          <p:nvPr/>
        </p:nvSpPr>
        <p:spPr>
          <a:xfrm>
            <a:off x="745824" y="1962819"/>
            <a:ext cx="5792627" cy="2862322"/>
          </a:xfrm>
          <a:prstGeom prst="rect">
            <a:avLst/>
          </a:prstGeom>
          <a:noFill/>
        </p:spPr>
        <p:txBody>
          <a:bodyPr wrap="square" rtlCol="0">
            <a:spAutoFit/>
          </a:bodyPr>
          <a:lstStyle/>
          <a:p>
            <a:r>
              <a:rPr lang="en-US" sz="1200" b="1" dirty="0"/>
              <a:t>Models: </a:t>
            </a:r>
            <a:r>
              <a:rPr lang="en-US" sz="1200" b="1" dirty="0" err="1"/>
              <a:t>kmeans</a:t>
            </a:r>
            <a:r>
              <a:rPr lang="en-US" sz="1200" b="1" dirty="0"/>
              <a:t> | </a:t>
            </a:r>
            <a:r>
              <a:rPr lang="en-US" sz="1200" b="1" dirty="0" err="1"/>
              <a:t>kprototypes</a:t>
            </a:r>
            <a:r>
              <a:rPr lang="en-US" sz="1200" b="1" dirty="0"/>
              <a:t> | </a:t>
            </a:r>
            <a:r>
              <a:rPr lang="en-US" sz="1200" b="1" dirty="0" err="1"/>
              <a:t>kmediods</a:t>
            </a:r>
            <a:r>
              <a:rPr lang="en-US" sz="1200" b="1" dirty="0"/>
              <a:t> + </a:t>
            </a:r>
            <a:r>
              <a:rPr lang="en-US" sz="1200" b="1" dirty="0" err="1"/>
              <a:t>gower</a:t>
            </a:r>
            <a:endParaRPr lang="en-US" sz="1200" b="1" dirty="0"/>
          </a:p>
          <a:p>
            <a:pPr marL="285750" indent="-285750">
              <a:buFont typeface="Arial" panose="020B0604020202020204" pitchFamily="34" charset="0"/>
              <a:buChar char="•"/>
            </a:pPr>
            <a:r>
              <a:rPr lang="en-US" sz="1200" dirty="0"/>
              <a:t>The datasets is a mixed datasets. Three models were evaluated for the clustering.</a:t>
            </a:r>
          </a:p>
          <a:p>
            <a:pPr marL="285750" indent="-285750">
              <a:buFont typeface="Arial" panose="020B0604020202020204" pitchFamily="34" charset="0"/>
              <a:buChar char="•"/>
            </a:pPr>
            <a:r>
              <a:rPr lang="en-US" sz="1200" dirty="0"/>
              <a:t>The models were evaluated by the silhouette scores such that the model with the highest silhouette scores is selected.</a:t>
            </a:r>
          </a:p>
          <a:p>
            <a:pPr marL="285750" indent="-285750">
              <a:buFont typeface="Arial" panose="020B0604020202020204" pitchFamily="34" charset="0"/>
              <a:buChar char="•"/>
            </a:pPr>
            <a:r>
              <a:rPr lang="en-US" sz="1200" dirty="0"/>
              <a:t>KMEANS with cluster size=2, had the maximum Silhouette score of 0.29.</a:t>
            </a:r>
          </a:p>
          <a:p>
            <a:r>
              <a:rPr lang="en-US" sz="1200" b="1" dirty="0"/>
              <a:t>Result:</a:t>
            </a:r>
          </a:p>
          <a:p>
            <a:pPr marL="171450" indent="-171450">
              <a:buFont typeface="Arial" panose="020B0604020202020204" pitchFamily="34" charset="0"/>
              <a:buChar char="•"/>
            </a:pPr>
            <a:r>
              <a:rPr lang="en-US" sz="1200" dirty="0"/>
              <a:t>Average Age of Cluster 0: Working class /Mainstream is 30yrs and cluster 1: Young Professional is 38yrs</a:t>
            </a:r>
          </a:p>
          <a:p>
            <a:pPr marL="171450" indent="-171450">
              <a:buFont typeface="Arial" panose="020B0604020202020204" pitchFamily="34" charset="0"/>
              <a:buChar char="•"/>
            </a:pPr>
            <a:r>
              <a:rPr lang="en-US" sz="1200" dirty="0"/>
              <a:t>Average weeks worked for cluster 0: Working class/Mainstream is 1 week/year and cluster 1: Young Professional is 45weeks/year.</a:t>
            </a:r>
          </a:p>
          <a:p>
            <a:pPr marL="171450" indent="-171450">
              <a:buFont typeface="Arial" panose="020B0604020202020204" pitchFamily="34" charset="0"/>
              <a:buChar char="•"/>
            </a:pPr>
            <a:r>
              <a:rPr lang="en-US" sz="1200" dirty="0"/>
              <a:t>Average wage per hour for cluster 0: 1hr and cluster 1: $109/hr.</a:t>
            </a:r>
          </a:p>
          <a:p>
            <a:r>
              <a:rPr lang="en-US" sz="1200" b="1" dirty="0"/>
              <a:t>Business Application:</a:t>
            </a:r>
          </a:p>
          <a:p>
            <a:pPr marL="171450" indent="-171450">
              <a:buFont typeface="Arial" panose="020B0604020202020204" pitchFamily="34" charset="0"/>
              <a:buChar char="•"/>
            </a:pPr>
            <a:r>
              <a:rPr lang="en-US" sz="1200" dirty="0"/>
              <a:t>Premium products marketing should target cluster 1</a:t>
            </a:r>
          </a:p>
          <a:p>
            <a:pPr marL="171450" indent="-171450">
              <a:buFont typeface="Arial" panose="020B0604020202020204" pitchFamily="34" charset="0"/>
              <a:buChar char="•"/>
            </a:pPr>
            <a:r>
              <a:rPr lang="en-US" sz="1200" dirty="0"/>
              <a:t>Value added product marketing should target cluster 0</a:t>
            </a:r>
          </a:p>
          <a:p>
            <a:pPr marL="171450" indent="-171450">
              <a:buFont typeface="Arial" panose="020B0604020202020204" pitchFamily="34" charset="0"/>
              <a:buChar char="•"/>
            </a:pPr>
            <a:r>
              <a:rPr lang="en-US" sz="1200" dirty="0"/>
              <a:t>Apply A/B testing by cluster group</a:t>
            </a:r>
          </a:p>
        </p:txBody>
      </p:sp>
      <p:pic>
        <p:nvPicPr>
          <p:cNvPr id="19" name="Picture 18">
            <a:extLst>
              <a:ext uri="{FF2B5EF4-FFF2-40B4-BE49-F238E27FC236}">
                <a16:creationId xmlns:a16="http://schemas.microsoft.com/office/drawing/2014/main" id="{4DC91228-DE5F-8318-6A08-DBCB9CB8A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3730" y="4757510"/>
            <a:ext cx="2269609" cy="1513073"/>
          </a:xfrm>
          <a:prstGeom prst="rect">
            <a:avLst/>
          </a:prstGeom>
        </p:spPr>
      </p:pic>
      <p:pic>
        <p:nvPicPr>
          <p:cNvPr id="21" name="Picture 20">
            <a:extLst>
              <a:ext uri="{FF2B5EF4-FFF2-40B4-BE49-F238E27FC236}">
                <a16:creationId xmlns:a16="http://schemas.microsoft.com/office/drawing/2014/main" id="{E3294F45-C413-FF61-C535-75602CD74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9950" y="4910045"/>
            <a:ext cx="2249521" cy="1405951"/>
          </a:xfrm>
          <a:prstGeom prst="rect">
            <a:avLst/>
          </a:prstGeom>
        </p:spPr>
      </p:pic>
      <p:pic>
        <p:nvPicPr>
          <p:cNvPr id="23" name="Picture 22">
            <a:extLst>
              <a:ext uri="{FF2B5EF4-FFF2-40B4-BE49-F238E27FC236}">
                <a16:creationId xmlns:a16="http://schemas.microsoft.com/office/drawing/2014/main" id="{A63E0F08-2825-BFA7-B95C-7FF52BD68B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8690" y="4874302"/>
            <a:ext cx="2883388" cy="1441694"/>
          </a:xfrm>
          <a:prstGeom prst="rect">
            <a:avLst/>
          </a:prstGeom>
        </p:spPr>
      </p:pic>
      <p:pic>
        <p:nvPicPr>
          <p:cNvPr id="25" name="Picture 24">
            <a:extLst>
              <a:ext uri="{FF2B5EF4-FFF2-40B4-BE49-F238E27FC236}">
                <a16:creationId xmlns:a16="http://schemas.microsoft.com/office/drawing/2014/main" id="{6AF6CC36-AAC3-CEEA-3818-28D3BE1405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3514" y="2185551"/>
            <a:ext cx="4349825" cy="1991172"/>
          </a:xfrm>
          <a:prstGeom prst="rect">
            <a:avLst/>
          </a:prstGeom>
        </p:spPr>
      </p:pic>
      <p:pic>
        <p:nvPicPr>
          <p:cNvPr id="27" name="Picture 26">
            <a:extLst>
              <a:ext uri="{FF2B5EF4-FFF2-40B4-BE49-F238E27FC236}">
                <a16:creationId xmlns:a16="http://schemas.microsoft.com/office/drawing/2014/main" id="{2DFBA648-4B1C-4B6F-F986-090889CDD8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8766" y="4874302"/>
            <a:ext cx="3158894" cy="1441694"/>
          </a:xfrm>
          <a:prstGeom prst="rect">
            <a:avLst/>
          </a:prstGeom>
        </p:spPr>
      </p:pic>
    </p:spTree>
    <p:extLst>
      <p:ext uri="{BB962C8B-B14F-4D97-AF65-F5344CB8AC3E}">
        <p14:creationId xmlns:p14="http://schemas.microsoft.com/office/powerpoint/2010/main" val="2581846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116E0-A22C-0372-AC4D-E49663763FE3}"/>
              </a:ext>
            </a:extLst>
          </p:cNvPr>
          <p:cNvSpPr>
            <a:spLocks noGrp="1"/>
          </p:cNvSpPr>
          <p:nvPr>
            <p:ph type="title"/>
          </p:nvPr>
        </p:nvSpPr>
        <p:spPr>
          <a:xfrm>
            <a:off x="293228" y="393272"/>
            <a:ext cx="10078934" cy="604922"/>
          </a:xfrm>
        </p:spPr>
        <p:txBody>
          <a:bodyPr>
            <a:normAutofit fontScale="90000"/>
          </a:bodyPr>
          <a:lstStyle/>
          <a:p>
            <a:r>
              <a:rPr lang="en-US" b="1" dirty="0"/>
              <a:t>Business Recommendation</a:t>
            </a:r>
          </a:p>
        </p:txBody>
      </p:sp>
      <p:sp>
        <p:nvSpPr>
          <p:cNvPr id="3" name="Date Placeholder 2">
            <a:extLst>
              <a:ext uri="{FF2B5EF4-FFF2-40B4-BE49-F238E27FC236}">
                <a16:creationId xmlns:a16="http://schemas.microsoft.com/office/drawing/2014/main" id="{EAF71922-BF4C-3092-78B4-B31AD20D318C}"/>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8D4276D4-8EFE-C244-871C-543EC750F08E}"/>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234F1074-1EAC-623F-F162-322E20460DA2}"/>
              </a:ext>
            </a:extLst>
          </p:cNvPr>
          <p:cNvSpPr>
            <a:spLocks noGrp="1"/>
          </p:cNvSpPr>
          <p:nvPr>
            <p:ph type="sldNum" sz="quarter" idx="12"/>
          </p:nvPr>
        </p:nvSpPr>
        <p:spPr/>
        <p:txBody>
          <a:bodyPr/>
          <a:lstStyle/>
          <a:p>
            <a:fld id="{ACF67F9B-24B2-4C3B-9DFF-0BBDBF735F65}" type="slidenum">
              <a:rPr lang="en-US" smtClean="0"/>
              <a:t>8</a:t>
            </a:fld>
            <a:endParaRPr lang="en-US"/>
          </a:p>
        </p:txBody>
      </p:sp>
      <p:sp>
        <p:nvSpPr>
          <p:cNvPr id="6" name="Rectangle: Rounded Corners 5">
            <a:extLst>
              <a:ext uri="{FF2B5EF4-FFF2-40B4-BE49-F238E27FC236}">
                <a16:creationId xmlns:a16="http://schemas.microsoft.com/office/drawing/2014/main" id="{F8CFD479-CDA2-5BC6-E736-F2F82DA91F18}"/>
              </a:ext>
            </a:extLst>
          </p:cNvPr>
          <p:cNvSpPr/>
          <p:nvPr/>
        </p:nvSpPr>
        <p:spPr>
          <a:xfrm>
            <a:off x="492482" y="1017858"/>
            <a:ext cx="5239723" cy="509780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b="1" dirty="0"/>
              <a:t>Recommendation</a:t>
            </a:r>
          </a:p>
          <a:p>
            <a:pPr marL="285750" indent="-285750">
              <a:buFont typeface="Arial" panose="020B0604020202020204" pitchFamily="34" charset="0"/>
              <a:buChar char="•"/>
            </a:pPr>
            <a:r>
              <a:rPr lang="en-US" sz="1400" dirty="0"/>
              <a:t>Deploy </a:t>
            </a:r>
            <a:r>
              <a:rPr lang="en-US" sz="1400" dirty="0" err="1"/>
              <a:t>XGBoost</a:t>
            </a:r>
            <a:r>
              <a:rPr lang="en-US" sz="1400" dirty="0"/>
              <a:t> model to predict high earning customers for targeted marketing.</a:t>
            </a:r>
          </a:p>
          <a:p>
            <a:pPr marL="285750" indent="-285750">
              <a:buFont typeface="Arial" panose="020B0604020202020204" pitchFamily="34" charset="0"/>
              <a:buChar char="•"/>
            </a:pPr>
            <a:r>
              <a:rPr lang="en-US" sz="1400" dirty="0"/>
              <a:t> To improve customer’s financial stability and resilience, the model can predict customers who will benefit from the impact program.</a:t>
            </a:r>
          </a:p>
          <a:p>
            <a:pPr marL="285750" indent="-285750">
              <a:buFont typeface="Arial" panose="020B0604020202020204" pitchFamily="34" charset="0"/>
              <a:buChar char="•"/>
            </a:pPr>
            <a:r>
              <a:rPr lang="en-US" sz="1400" dirty="0"/>
              <a:t>The model determined income disparity in gender and race. It can be used to determine the gender and race of participants in the building wealth and legacies program of the client.</a:t>
            </a:r>
          </a:p>
          <a:p>
            <a:pPr marL="285750" indent="-285750">
              <a:buFont typeface="Arial" panose="020B0604020202020204" pitchFamily="34" charset="0"/>
              <a:buChar char="•"/>
            </a:pPr>
            <a:r>
              <a:rPr lang="en-US" sz="1400" dirty="0"/>
              <a:t>Prioritize cluster 1: Young Professional customer for targeted marketing.</a:t>
            </a:r>
          </a:p>
          <a:p>
            <a:pPr marL="285750" indent="-285750">
              <a:buFont typeface="Arial" panose="020B0604020202020204" pitchFamily="34" charset="0"/>
              <a:buChar char="•"/>
            </a:pPr>
            <a:r>
              <a:rPr lang="en-US" sz="1400" dirty="0"/>
              <a:t>Monitor the model for model and data drift over time.</a:t>
            </a:r>
          </a:p>
          <a:p>
            <a:pPr marL="285750" indent="-285750">
              <a:buFont typeface="Arial" panose="020B0604020202020204" pitchFamily="34" charset="0"/>
              <a:buChar char="•"/>
            </a:pPr>
            <a:r>
              <a:rPr lang="en-US" sz="1400" dirty="0"/>
              <a:t>Retrain the model with updated census data</a:t>
            </a:r>
          </a:p>
          <a:p>
            <a:r>
              <a:rPr lang="en-US" sz="1400" b="1" dirty="0"/>
              <a:t>Limitations</a:t>
            </a:r>
          </a:p>
          <a:p>
            <a:pPr marL="285750" indent="-285750">
              <a:buFont typeface="Arial" panose="020B0604020202020204" pitchFamily="34" charset="0"/>
              <a:buChar char="•"/>
            </a:pPr>
            <a:r>
              <a:rPr lang="en-US" sz="1400" dirty="0"/>
              <a:t>Census data (1994 – 1995) may not reflect income structures</a:t>
            </a:r>
          </a:p>
          <a:p>
            <a:pPr marL="285750" indent="-285750">
              <a:buFont typeface="Arial" panose="020B0604020202020204" pitchFamily="34" charset="0"/>
              <a:buChar char="•"/>
            </a:pPr>
            <a:r>
              <a:rPr lang="en-US" sz="1400" dirty="0"/>
              <a:t>Silhouette scores indicates a moderate cluster separation</a:t>
            </a:r>
          </a:p>
          <a:p>
            <a:pPr marL="285750" indent="-285750">
              <a:buFont typeface="Arial" panose="020B0604020202020204" pitchFamily="34" charset="0"/>
              <a:buChar char="•"/>
            </a:pPr>
            <a:r>
              <a:rPr lang="en-US" sz="1400" dirty="0"/>
              <a:t>Economic shifts may impact the stability of the model</a:t>
            </a:r>
          </a:p>
          <a:p>
            <a:pPr marL="285750" indent="-285750">
              <a:buFont typeface="Arial" panose="020B0604020202020204" pitchFamily="34" charset="0"/>
              <a:buChar char="•"/>
            </a:pPr>
            <a:r>
              <a:rPr lang="en-US" sz="1400" dirty="0"/>
              <a:t>Performance of the model depends on accurate inputs.</a:t>
            </a:r>
            <a:br>
              <a:rPr lang="en-US" sz="1400" dirty="0"/>
            </a:br>
            <a:endParaRPr lang="en-US" sz="1400" dirty="0"/>
          </a:p>
        </p:txBody>
      </p:sp>
      <p:sp>
        <p:nvSpPr>
          <p:cNvPr id="7" name="Rectangle: Rounded Corners 6">
            <a:extLst>
              <a:ext uri="{FF2B5EF4-FFF2-40B4-BE49-F238E27FC236}">
                <a16:creationId xmlns:a16="http://schemas.microsoft.com/office/drawing/2014/main" id="{25F68772-D854-6FAD-2E10-4BB555014A09}"/>
              </a:ext>
            </a:extLst>
          </p:cNvPr>
          <p:cNvSpPr/>
          <p:nvPr/>
        </p:nvSpPr>
        <p:spPr>
          <a:xfrm>
            <a:off x="6096000" y="998194"/>
            <a:ext cx="5603518" cy="509780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b="1" dirty="0"/>
              <a:t>Future Improvements</a:t>
            </a:r>
          </a:p>
          <a:p>
            <a:pPr marL="285750" indent="-285750">
              <a:buFont typeface="Arial" panose="020B0604020202020204" pitchFamily="34" charset="0"/>
              <a:buChar char="•"/>
            </a:pPr>
            <a:r>
              <a:rPr lang="en-US" sz="1400" dirty="0"/>
              <a:t>Threshold Optimization using key business cost parameters</a:t>
            </a:r>
          </a:p>
          <a:p>
            <a:pPr marL="285750" indent="-285750">
              <a:buFont typeface="Arial" panose="020B0604020202020204" pitchFamily="34" charset="0"/>
              <a:buChar char="•"/>
            </a:pPr>
            <a:r>
              <a:rPr lang="en-US" sz="1400" dirty="0"/>
              <a:t>Investigate the regulatory compliance concerns of using the ML model.</a:t>
            </a:r>
          </a:p>
          <a:p>
            <a:pPr marL="285750" indent="-285750">
              <a:buFont typeface="Arial" panose="020B0604020202020204" pitchFamily="34" charset="0"/>
              <a:buChar char="•"/>
            </a:pPr>
            <a:r>
              <a:rPr lang="en-US" sz="1400" dirty="0"/>
              <a:t>Due to lack of recent dataset for training, I would recommend the ML be trained with more current census bureau dataset.</a:t>
            </a:r>
          </a:p>
          <a:p>
            <a:pPr marL="285750" indent="-285750">
              <a:buFont typeface="Arial" panose="020B0604020202020204" pitchFamily="34" charset="0"/>
              <a:buChar char="•"/>
            </a:pPr>
            <a:r>
              <a:rPr lang="en-US" sz="1400" dirty="0"/>
              <a:t>Explore cost-sensitive learning</a:t>
            </a:r>
          </a:p>
          <a:p>
            <a:pPr marL="285750" indent="-285750">
              <a:buFont typeface="Arial" panose="020B0604020202020204" pitchFamily="34" charset="0"/>
              <a:buChar char="•"/>
            </a:pPr>
            <a:r>
              <a:rPr lang="en-US" sz="1400" dirty="0"/>
              <a:t>Evaluate PR-AUC explicitly</a:t>
            </a:r>
          </a:p>
          <a:p>
            <a:pPr marL="285750" indent="-285750">
              <a:buFont typeface="Arial" panose="020B0604020202020204" pitchFamily="34" charset="0"/>
              <a:buChar char="•"/>
            </a:pPr>
            <a:r>
              <a:rPr lang="en-US" sz="1400" dirty="0"/>
              <a:t>Conduct fairness stress testing</a:t>
            </a:r>
          </a:p>
          <a:p>
            <a:pPr marL="285750" indent="-285750">
              <a:buFont typeface="Arial" panose="020B0604020202020204" pitchFamily="34" charset="0"/>
              <a:buChar char="•"/>
            </a:pPr>
            <a:r>
              <a:rPr lang="en-US" sz="1400" dirty="0"/>
              <a:t>Explore UMAP for non-linear cluster segmentation.</a:t>
            </a:r>
          </a:p>
          <a:p>
            <a:endParaRPr lang="en-US" sz="1400" dirty="0"/>
          </a:p>
          <a:p>
            <a:r>
              <a:rPr lang="en-US" sz="1400" b="1" dirty="0"/>
              <a:t>Conclusion</a:t>
            </a:r>
          </a:p>
          <a:p>
            <a:r>
              <a:rPr lang="en-US" sz="1400" dirty="0"/>
              <a:t>The machine learning framework identifies:</a:t>
            </a:r>
          </a:p>
          <a:p>
            <a:pPr marL="285750" indent="-285750">
              <a:buFont typeface="Arial" panose="020B0604020202020204" pitchFamily="34" charset="0"/>
              <a:buChar char="•"/>
            </a:pPr>
            <a:r>
              <a:rPr lang="en-US" sz="1400" dirty="0"/>
              <a:t>Two customer segmentation clusters for target marketing</a:t>
            </a:r>
          </a:p>
          <a:p>
            <a:pPr marL="285750" indent="-285750">
              <a:buFont typeface="Arial" panose="020B0604020202020204" pitchFamily="34" charset="0"/>
              <a:buChar char="•"/>
            </a:pPr>
            <a:r>
              <a:rPr lang="en-US" sz="1400" dirty="0"/>
              <a:t>The best classification models for the dataset as </a:t>
            </a:r>
            <a:r>
              <a:rPr lang="en-US" sz="1400" dirty="0" err="1"/>
              <a:t>XGBoost</a:t>
            </a:r>
            <a:endParaRPr lang="en-US" sz="1400" dirty="0"/>
          </a:p>
          <a:p>
            <a:pPr marL="285750" indent="-285750">
              <a:buFont typeface="Arial" panose="020B0604020202020204" pitchFamily="34" charset="0"/>
              <a:buChar char="•"/>
            </a:pPr>
            <a:r>
              <a:rPr lang="en-US" sz="1400" dirty="0"/>
              <a:t>Business threshold optimization</a:t>
            </a:r>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3297973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34425-6D64-EEBA-D25E-EA688F712ED0}"/>
              </a:ext>
            </a:extLst>
          </p:cNvPr>
          <p:cNvSpPr>
            <a:spLocks noGrp="1"/>
          </p:cNvSpPr>
          <p:nvPr>
            <p:ph type="title"/>
          </p:nvPr>
        </p:nvSpPr>
        <p:spPr>
          <a:xfrm>
            <a:off x="491613" y="318561"/>
            <a:ext cx="10078934" cy="663916"/>
          </a:xfrm>
        </p:spPr>
        <p:txBody>
          <a:bodyPr>
            <a:normAutofit fontScale="90000"/>
          </a:bodyPr>
          <a:lstStyle/>
          <a:p>
            <a:r>
              <a:rPr lang="en-US" b="1" dirty="0"/>
              <a:t>Reference</a:t>
            </a:r>
          </a:p>
        </p:txBody>
      </p:sp>
      <p:sp>
        <p:nvSpPr>
          <p:cNvPr id="3" name="Date Placeholder 2">
            <a:extLst>
              <a:ext uri="{FF2B5EF4-FFF2-40B4-BE49-F238E27FC236}">
                <a16:creationId xmlns:a16="http://schemas.microsoft.com/office/drawing/2014/main" id="{845EEF98-239C-8089-1335-B7B0DE78D87D}"/>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D913821C-7C61-7345-85B4-AAAD0E941087}"/>
              </a:ext>
            </a:extLst>
          </p:cNvPr>
          <p:cNvSpPr>
            <a:spLocks noGrp="1"/>
          </p:cNvSpPr>
          <p:nvPr>
            <p:ph type="ftr" sz="quarter" idx="11"/>
          </p:nvPr>
        </p:nvSpPr>
        <p:spPr/>
        <p:txBody>
          <a:bodyPr/>
          <a:lstStyle/>
          <a:p>
            <a:r>
              <a:rPr lang="en-US" dirty="0"/>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CED16326-0D31-17E1-2AE1-DD25A8700723}"/>
              </a:ext>
            </a:extLst>
          </p:cNvPr>
          <p:cNvSpPr>
            <a:spLocks noGrp="1"/>
          </p:cNvSpPr>
          <p:nvPr>
            <p:ph type="sldNum" sz="quarter" idx="12"/>
          </p:nvPr>
        </p:nvSpPr>
        <p:spPr/>
        <p:txBody>
          <a:bodyPr/>
          <a:lstStyle/>
          <a:p>
            <a:fld id="{ACF67F9B-24B2-4C3B-9DFF-0BBDBF735F65}" type="slidenum">
              <a:rPr lang="en-US" smtClean="0"/>
              <a:t>9</a:t>
            </a:fld>
            <a:endParaRPr lang="en-US"/>
          </a:p>
        </p:txBody>
      </p:sp>
      <p:sp>
        <p:nvSpPr>
          <p:cNvPr id="6" name="TextBox 5">
            <a:extLst>
              <a:ext uri="{FF2B5EF4-FFF2-40B4-BE49-F238E27FC236}">
                <a16:creationId xmlns:a16="http://schemas.microsoft.com/office/drawing/2014/main" id="{8CBFD2F6-E0EA-E635-EEA1-EC41A7C37E38}"/>
              </a:ext>
            </a:extLst>
          </p:cNvPr>
          <p:cNvSpPr txBox="1"/>
          <p:nvPr/>
        </p:nvSpPr>
        <p:spPr>
          <a:xfrm>
            <a:off x="609600" y="1690688"/>
            <a:ext cx="11031794"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ln w="0"/>
                <a:effectLst>
                  <a:outerShdw blurRad="38100" dist="25400" dir="5400000" algn="ctr" rotWithShape="0">
                    <a:srgbClr val="6E747A">
                      <a:alpha val="43000"/>
                    </a:srgbClr>
                  </a:outerShdw>
                </a:effectLst>
              </a:rPr>
              <a:t>Huang, Z.: Clustering large data sets with mixed numeric and categorical values, Proceedings of the First Pacific Asia Knowledge Discovery and Data Mining Conference, Singapore, pp. 21-34, 1997. [</a:t>
            </a:r>
            <a:r>
              <a:rPr lang="en-US" sz="1400" dirty="0">
                <a:ln w="0"/>
                <a:effectLst>
                  <a:outerShdw blurRad="38100" dist="25400" dir="5400000" algn="ctr" rotWithShape="0">
                    <a:srgbClr val="6E747A">
                      <a:alpha val="43000"/>
                    </a:srgbClr>
                  </a:outerShdw>
                </a:effectLst>
                <a:hlinkClick r:id="rId2">
                  <a:extLst>
                    <a:ext uri="{A12FA001-AC4F-418D-AE19-62706E023703}">
                      <ahyp:hlinkClr xmlns:ahyp="http://schemas.microsoft.com/office/drawing/2018/hyperlinkcolor" val="tx"/>
                    </a:ext>
                  </a:extLst>
                </a:hlinkClick>
              </a:rPr>
              <a:t>HUANG98</a:t>
            </a:r>
            <a:r>
              <a:rPr lang="en-US" sz="1400" dirty="0">
                <a:ln w="0"/>
                <a:effectLst>
                  <a:outerShdw blurRad="38100" dist="25400" dir="5400000" algn="ctr" rotWithShape="0">
                    <a:srgbClr val="6E747A">
                      <a:alpha val="43000"/>
                    </a:srgbClr>
                  </a:outerShdw>
                </a:effectLst>
              </a:rPr>
              <a:t>]</a:t>
            </a:r>
          </a:p>
          <a:p>
            <a:pPr marL="285750" indent="-285750">
              <a:buFont typeface="Arial" panose="020B0604020202020204" pitchFamily="34" charset="0"/>
              <a:buChar char="•"/>
            </a:pPr>
            <a:r>
              <a:rPr lang="en-US" sz="1400" dirty="0">
                <a:ln w="0"/>
                <a:effectLst>
                  <a:outerShdw blurRad="38100" dist="25400" dir="5400000" algn="ctr" rotWithShape="0">
                    <a:srgbClr val="6E747A">
                      <a:alpha val="43000"/>
                    </a:srgbClr>
                  </a:outerShdw>
                </a:effectLst>
              </a:rPr>
              <a:t>Scikit-Learn </a:t>
            </a:r>
            <a:r>
              <a:rPr lang="en-US" sz="1400" dirty="0" err="1">
                <a:ln w="0"/>
                <a:effectLst>
                  <a:outerShdw blurRad="38100" dist="25400" dir="5400000" algn="ctr" rotWithShape="0">
                    <a:srgbClr val="6E747A">
                      <a:alpha val="43000"/>
                    </a:srgbClr>
                  </a:outerShdw>
                </a:effectLst>
              </a:rPr>
              <a:t>kmeans</a:t>
            </a:r>
            <a:r>
              <a:rPr lang="en-US" sz="1400" dirty="0">
                <a:ln w="0"/>
                <a:effectLst>
                  <a:outerShdw blurRad="38100" dist="25400" dir="5400000" algn="ctr" rotWithShape="0">
                    <a:srgbClr val="6E747A">
                      <a:alpha val="43000"/>
                    </a:srgbClr>
                  </a:outerShdw>
                </a:effectLst>
              </a:rPr>
              <a:t> clustering documentation: </a:t>
            </a:r>
            <a:r>
              <a:rPr lang="en-US" sz="1400" dirty="0">
                <a:ln w="0"/>
                <a:effectLst>
                  <a:outerShdw blurRad="38100" dist="25400" dir="5400000" algn="ctr" rotWithShape="0">
                    <a:srgbClr val="6E747A">
                      <a:alpha val="43000"/>
                    </a:srgbClr>
                  </a:outerShdw>
                </a:effectLst>
                <a:hlinkClick r:id="rId3">
                  <a:extLst>
                    <a:ext uri="{A12FA001-AC4F-418D-AE19-62706E023703}">
                      <ahyp:hlinkClr xmlns:ahyp="http://schemas.microsoft.com/office/drawing/2018/hyperlinkcolor" val="tx"/>
                    </a:ext>
                  </a:extLst>
                </a:hlinkClick>
              </a:rPr>
              <a:t>https://scikit-learn.org/stable/modules/clustering.html#k-means</a:t>
            </a:r>
            <a:r>
              <a:rPr lang="en-US" sz="1400" dirty="0">
                <a:ln w="0"/>
                <a:effectLst>
                  <a:outerShdw blurRad="38100" dist="25400" dir="5400000" algn="ctr" rotWithShape="0">
                    <a:srgbClr val="6E747A">
                      <a:alpha val="43000"/>
                    </a:srgbClr>
                  </a:outerShdw>
                </a:effectLst>
              </a:rPr>
              <a:t> </a:t>
            </a:r>
          </a:p>
          <a:p>
            <a:pPr marL="285750" indent="-285750">
              <a:buFont typeface="Arial" panose="020B0604020202020204" pitchFamily="34" charset="0"/>
              <a:buChar char="•"/>
            </a:pPr>
            <a:r>
              <a:rPr lang="en-US" sz="1400" dirty="0">
                <a:ln w="0"/>
                <a:effectLst>
                  <a:outerShdw blurRad="38100" dist="25400" dir="5400000" algn="ctr" rotWithShape="0">
                    <a:srgbClr val="6E747A">
                      <a:alpha val="43000"/>
                    </a:srgbClr>
                  </a:outerShdw>
                </a:effectLst>
              </a:rPr>
              <a:t>Scikit-learn supervised learning documentation: </a:t>
            </a:r>
            <a:r>
              <a:rPr lang="en-US" sz="1400" dirty="0">
                <a:ln w="0"/>
                <a:effectLst>
                  <a:outerShdw blurRad="38100" dist="25400" dir="5400000" algn="ctr" rotWithShape="0">
                    <a:srgbClr val="6E747A">
                      <a:alpha val="43000"/>
                    </a:srgbClr>
                  </a:outerShdw>
                </a:effectLst>
                <a:hlinkClick r:id="rId4">
                  <a:extLst>
                    <a:ext uri="{A12FA001-AC4F-418D-AE19-62706E023703}">
                      <ahyp:hlinkClr xmlns:ahyp="http://schemas.microsoft.com/office/drawing/2018/hyperlinkcolor" val="tx"/>
                    </a:ext>
                  </a:extLst>
                </a:hlinkClick>
              </a:rPr>
              <a:t>https://scikit-learn.org/stable/supervised_learning.html</a:t>
            </a:r>
            <a:r>
              <a:rPr lang="en-US" sz="1400" dirty="0">
                <a:ln w="0"/>
                <a:effectLst>
                  <a:outerShdw blurRad="38100" dist="25400" dir="5400000" algn="ctr" rotWithShape="0">
                    <a:srgbClr val="6E747A">
                      <a:alpha val="43000"/>
                    </a:srgbClr>
                  </a:outerShdw>
                </a:effectLst>
              </a:rPr>
              <a:t> </a:t>
            </a:r>
          </a:p>
          <a:p>
            <a:pPr marL="285750" indent="-285750">
              <a:buFont typeface="Arial" panose="020B0604020202020204" pitchFamily="34" charset="0"/>
              <a:buChar char="•"/>
            </a:pPr>
            <a:r>
              <a:rPr lang="en-US" sz="1400" dirty="0">
                <a:ln w="0"/>
                <a:effectLst>
                  <a:outerShdw blurRad="38100" dist="25400" dir="5400000" algn="ctr" rotWithShape="0">
                    <a:srgbClr val="6E747A">
                      <a:alpha val="43000"/>
                    </a:srgbClr>
                  </a:outerShdw>
                </a:effectLst>
              </a:rPr>
              <a:t>Chen T, He T, </a:t>
            </a:r>
            <a:r>
              <a:rPr lang="en-US" sz="1400" dirty="0" err="1">
                <a:ln w="0"/>
                <a:effectLst>
                  <a:outerShdw blurRad="38100" dist="25400" dir="5400000" algn="ctr" rotWithShape="0">
                    <a:srgbClr val="6E747A">
                      <a:alpha val="43000"/>
                    </a:srgbClr>
                  </a:outerShdw>
                </a:effectLst>
              </a:rPr>
              <a:t>Benesty</a:t>
            </a:r>
            <a:r>
              <a:rPr lang="en-US" sz="1400" dirty="0">
                <a:ln w="0"/>
                <a:effectLst>
                  <a:outerShdw blurRad="38100" dist="25400" dir="5400000" algn="ctr" rotWithShape="0">
                    <a:srgbClr val="6E747A">
                      <a:alpha val="43000"/>
                    </a:srgbClr>
                  </a:outerShdw>
                </a:effectLst>
              </a:rPr>
              <a:t> M, </a:t>
            </a:r>
            <a:r>
              <a:rPr lang="en-US" sz="1400" dirty="0" err="1">
                <a:ln w="0"/>
                <a:effectLst>
                  <a:outerShdw blurRad="38100" dist="25400" dir="5400000" algn="ctr" rotWithShape="0">
                    <a:srgbClr val="6E747A">
                      <a:alpha val="43000"/>
                    </a:srgbClr>
                  </a:outerShdw>
                </a:effectLst>
              </a:rPr>
              <a:t>Khotilovich</a:t>
            </a:r>
            <a:r>
              <a:rPr lang="en-US" sz="1400" dirty="0">
                <a:ln w="0"/>
                <a:effectLst>
                  <a:outerShdw blurRad="38100" dist="25400" dir="5400000" algn="ctr" rotWithShape="0">
                    <a:srgbClr val="6E747A">
                      <a:alpha val="43000"/>
                    </a:srgbClr>
                  </a:outerShdw>
                </a:effectLst>
              </a:rPr>
              <a:t> V, Tang Y, Cho H, Chen K, Mitchell R, </a:t>
            </a:r>
            <a:r>
              <a:rPr lang="en-US" sz="1400" dirty="0" err="1">
                <a:ln w="0"/>
                <a:effectLst>
                  <a:outerShdw blurRad="38100" dist="25400" dir="5400000" algn="ctr" rotWithShape="0">
                    <a:srgbClr val="6E747A">
                      <a:alpha val="43000"/>
                    </a:srgbClr>
                  </a:outerShdw>
                </a:effectLst>
              </a:rPr>
              <a:t>Cano</a:t>
            </a:r>
            <a:r>
              <a:rPr lang="en-US" sz="1400" dirty="0">
                <a:ln w="0"/>
                <a:effectLst>
                  <a:outerShdw blurRad="38100" dist="25400" dir="5400000" algn="ctr" rotWithShape="0">
                    <a:srgbClr val="6E747A">
                      <a:alpha val="43000"/>
                    </a:srgbClr>
                  </a:outerShdw>
                </a:effectLst>
              </a:rPr>
              <a:t> I, Zhou T, Li M, Xie J, Lin M, Geng Y, Li Y, Yuan J, Cortes D (2026). </a:t>
            </a:r>
            <a:r>
              <a:rPr lang="en-US" sz="1400" i="1" dirty="0" err="1">
                <a:ln w="0"/>
                <a:effectLst>
                  <a:outerShdw blurRad="38100" dist="25400" dir="5400000" algn="ctr" rotWithShape="0">
                    <a:srgbClr val="6E747A">
                      <a:alpha val="43000"/>
                    </a:srgbClr>
                  </a:outerShdw>
                </a:effectLst>
              </a:rPr>
              <a:t>xgboost</a:t>
            </a:r>
            <a:r>
              <a:rPr lang="en-US" sz="1400" i="1" dirty="0">
                <a:ln w="0"/>
                <a:effectLst>
                  <a:outerShdw blurRad="38100" dist="25400" dir="5400000" algn="ctr" rotWithShape="0">
                    <a:srgbClr val="6E747A">
                      <a:alpha val="43000"/>
                    </a:srgbClr>
                  </a:outerShdw>
                </a:effectLst>
              </a:rPr>
              <a:t>: Extreme Gradient Boosting</a:t>
            </a:r>
            <a:r>
              <a:rPr lang="en-US" sz="1400" dirty="0">
                <a:ln w="0"/>
                <a:effectLst>
                  <a:outerShdw blurRad="38100" dist="25400" dir="5400000" algn="ctr" rotWithShape="0">
                    <a:srgbClr val="6E747A">
                      <a:alpha val="43000"/>
                    </a:srgbClr>
                  </a:outerShdw>
                </a:effectLst>
              </a:rPr>
              <a:t>. R package version 3.3.0.0, </a:t>
            </a:r>
            <a:r>
              <a:rPr lang="en-US" sz="1400" u="sng" dirty="0">
                <a:ln w="0"/>
                <a:effectLst>
                  <a:outerShdw blurRad="38100" dist="25400" dir="5400000" algn="ctr" rotWithShape="0">
                    <a:srgbClr val="6E747A">
                      <a:alpha val="43000"/>
                    </a:srgbClr>
                  </a:outerShdw>
                </a:effectLst>
                <a:hlinkClick r:id="rId5">
                  <a:extLst>
                    <a:ext uri="{A12FA001-AC4F-418D-AE19-62706E023703}">
                      <ahyp:hlinkClr xmlns:ahyp="http://schemas.microsoft.com/office/drawing/2018/hyperlinkcolor" val="tx"/>
                    </a:ext>
                  </a:extLst>
                </a:hlinkClick>
              </a:rPr>
              <a:t>https://github.com/dmlc/xgboost</a:t>
            </a:r>
            <a:r>
              <a:rPr lang="en-US" sz="1400" dirty="0">
                <a:ln w="0"/>
                <a:effectLst>
                  <a:outerShdw blurRad="38100" dist="25400" dir="5400000" algn="ctr" rotWithShape="0">
                    <a:srgbClr val="6E747A">
                      <a:alpha val="43000"/>
                    </a:srgbClr>
                  </a:outerShdw>
                </a:effectLst>
              </a:rPr>
              <a:t>.</a:t>
            </a:r>
          </a:p>
          <a:p>
            <a:pPr marL="285750" indent="-285750">
              <a:buFont typeface="Arial" panose="020B0604020202020204" pitchFamily="34" charset="0"/>
              <a:buChar char="•"/>
            </a:pPr>
            <a:r>
              <a:rPr lang="en-US" sz="1400" dirty="0" err="1">
                <a:ln w="0"/>
                <a:effectLst>
                  <a:outerShdw blurRad="38100" dist="25400" dir="5400000" algn="ctr" rotWithShape="0">
                    <a:srgbClr val="6E747A">
                      <a:alpha val="43000"/>
                    </a:srgbClr>
                  </a:outerShdw>
                </a:effectLst>
              </a:rPr>
              <a:t>Géron</a:t>
            </a:r>
            <a:r>
              <a:rPr lang="en-US" sz="1400" dirty="0">
                <a:ln w="0"/>
                <a:effectLst>
                  <a:outerShdw blurRad="38100" dist="25400" dir="5400000" algn="ctr" rotWithShape="0">
                    <a:srgbClr val="6E747A">
                      <a:alpha val="43000"/>
                    </a:srgbClr>
                  </a:outerShdw>
                </a:effectLst>
              </a:rPr>
              <a:t>, A. (2019). </a:t>
            </a:r>
            <a:r>
              <a:rPr lang="en-US" sz="1400" i="1" dirty="0">
                <a:ln w="0"/>
                <a:effectLst>
                  <a:outerShdw blurRad="38100" dist="25400" dir="5400000" algn="ctr" rotWithShape="0">
                    <a:srgbClr val="6E747A">
                      <a:alpha val="43000"/>
                    </a:srgbClr>
                  </a:outerShdw>
                </a:effectLst>
              </a:rPr>
              <a:t>Hands-on machine learning with Scikit-Learn, </a:t>
            </a:r>
            <a:r>
              <a:rPr lang="en-US" sz="1400" i="1" dirty="0" err="1">
                <a:ln w="0"/>
                <a:effectLst>
                  <a:outerShdw blurRad="38100" dist="25400" dir="5400000" algn="ctr" rotWithShape="0">
                    <a:srgbClr val="6E747A">
                      <a:alpha val="43000"/>
                    </a:srgbClr>
                  </a:outerShdw>
                </a:effectLst>
              </a:rPr>
              <a:t>Keras</a:t>
            </a:r>
            <a:r>
              <a:rPr lang="en-US" sz="1400" i="1" dirty="0">
                <a:ln w="0"/>
                <a:effectLst>
                  <a:outerShdw blurRad="38100" dist="25400" dir="5400000" algn="ctr" rotWithShape="0">
                    <a:srgbClr val="6E747A">
                      <a:alpha val="43000"/>
                    </a:srgbClr>
                  </a:outerShdw>
                </a:effectLst>
              </a:rPr>
              <a:t>, and TensorFlow: Concepts, tools, and techniques to build intelligent systems</a:t>
            </a:r>
            <a:r>
              <a:rPr lang="en-US" sz="1400" dirty="0">
                <a:ln w="0"/>
                <a:effectLst>
                  <a:outerShdw blurRad="38100" dist="25400" dir="5400000" algn="ctr" rotWithShape="0">
                    <a:srgbClr val="6E747A">
                      <a:alpha val="43000"/>
                    </a:srgbClr>
                  </a:outerShdw>
                </a:effectLst>
              </a:rPr>
              <a:t> (2nd ed.). O'Reilly.</a:t>
            </a:r>
          </a:p>
        </p:txBody>
      </p:sp>
    </p:spTree>
    <p:extLst>
      <p:ext uri="{BB962C8B-B14F-4D97-AF65-F5344CB8AC3E}">
        <p14:creationId xmlns:p14="http://schemas.microsoft.com/office/powerpoint/2010/main" val="254986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8928-2A7A-691B-E005-844A94C34995}"/>
              </a:ext>
            </a:extLst>
          </p:cNvPr>
          <p:cNvSpPr>
            <a:spLocks noGrp="1"/>
          </p:cNvSpPr>
          <p:nvPr>
            <p:ph type="title"/>
          </p:nvPr>
        </p:nvSpPr>
        <p:spPr/>
        <p:txBody>
          <a:bodyPr/>
          <a:lstStyle/>
          <a:p>
            <a:endParaRPr lang="en-US" dirty="0"/>
          </a:p>
        </p:txBody>
      </p:sp>
      <p:sp>
        <p:nvSpPr>
          <p:cNvPr id="3" name="Date Placeholder 2">
            <a:extLst>
              <a:ext uri="{FF2B5EF4-FFF2-40B4-BE49-F238E27FC236}">
                <a16:creationId xmlns:a16="http://schemas.microsoft.com/office/drawing/2014/main" id="{800AE5B6-2BD7-582E-AACB-D8D090B7A014}"/>
              </a:ext>
            </a:extLst>
          </p:cNvPr>
          <p:cNvSpPr>
            <a:spLocks noGrp="1"/>
          </p:cNvSpPr>
          <p:nvPr>
            <p:ph type="dt" sz="half" idx="10"/>
          </p:nvPr>
        </p:nvSpPr>
        <p:spPr/>
        <p:txBody>
          <a:bodyPr/>
          <a:lstStyle/>
          <a:p>
            <a:fld id="{B2E761C5-F6CE-4AA2-94A3-15A710A0CB9E}" type="datetime1">
              <a:rPr lang="en-US" smtClean="0"/>
              <a:t>2/19/26</a:t>
            </a:fld>
            <a:endParaRPr lang="en-US"/>
          </a:p>
        </p:txBody>
      </p:sp>
      <p:sp>
        <p:nvSpPr>
          <p:cNvPr id="4" name="Footer Placeholder 3">
            <a:extLst>
              <a:ext uri="{FF2B5EF4-FFF2-40B4-BE49-F238E27FC236}">
                <a16:creationId xmlns:a16="http://schemas.microsoft.com/office/drawing/2014/main" id="{5250826C-4CF5-15DF-AA39-8C6A7F59DDB6}"/>
              </a:ext>
            </a:extLst>
          </p:cNvPr>
          <p:cNvSpPr>
            <a:spLocks noGrp="1"/>
          </p:cNvSpPr>
          <p:nvPr>
            <p:ph type="ftr" sz="quarter" idx="11"/>
          </p:nvPr>
        </p:nvSpPr>
        <p:spPr/>
        <p:txBody>
          <a:bodyPr/>
          <a:lstStyle/>
          <a:p>
            <a:r>
              <a:rPr lang="en-US"/>
              <a:t>Income Classification ML Project | Edison E Chukwuemeka</a:t>
            </a:r>
            <a:endParaRPr lang="en-US" sz="1100" dirty="0"/>
          </a:p>
        </p:txBody>
      </p:sp>
      <p:sp>
        <p:nvSpPr>
          <p:cNvPr id="5" name="Slide Number Placeholder 4">
            <a:extLst>
              <a:ext uri="{FF2B5EF4-FFF2-40B4-BE49-F238E27FC236}">
                <a16:creationId xmlns:a16="http://schemas.microsoft.com/office/drawing/2014/main" id="{D41BAC11-5186-1BC9-274B-EF4B3F3C38A6}"/>
              </a:ext>
            </a:extLst>
          </p:cNvPr>
          <p:cNvSpPr>
            <a:spLocks noGrp="1"/>
          </p:cNvSpPr>
          <p:nvPr>
            <p:ph type="sldNum" sz="quarter" idx="12"/>
          </p:nvPr>
        </p:nvSpPr>
        <p:spPr/>
        <p:txBody>
          <a:bodyPr/>
          <a:lstStyle/>
          <a:p>
            <a:fld id="{ACF67F9B-24B2-4C3B-9DFF-0BBDBF735F65}" type="slidenum">
              <a:rPr lang="en-US" smtClean="0"/>
              <a:t>10</a:t>
            </a:fld>
            <a:endParaRPr lang="en-US"/>
          </a:p>
        </p:txBody>
      </p:sp>
    </p:spTree>
    <p:extLst>
      <p:ext uri="{BB962C8B-B14F-4D97-AF65-F5344CB8AC3E}">
        <p14:creationId xmlns:p14="http://schemas.microsoft.com/office/powerpoint/2010/main" val="471726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984</TotalTime>
  <Words>1547</Words>
  <Application>Microsoft Macintosh PowerPoint</Application>
  <PresentationFormat>Widescreen</PresentationFormat>
  <Paragraphs>230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Cambria Math</vt:lpstr>
      <vt:lpstr>Garamond</vt:lpstr>
      <vt:lpstr>Wingdings</vt:lpstr>
      <vt:lpstr>Office Theme</vt:lpstr>
      <vt:lpstr>Income Classification &amp; Customer Segmentation</vt:lpstr>
      <vt:lpstr>Agenda</vt:lpstr>
      <vt:lpstr>Executive Summary</vt:lpstr>
      <vt:lpstr>Business Problem Overview</vt:lpstr>
      <vt:lpstr>Exploratory Data Analysis &amp; Preprocessing</vt:lpstr>
      <vt:lpstr>Classification Model: Training and Evaluation</vt:lpstr>
      <vt:lpstr>Segmentation Model: Clustering</vt:lpstr>
      <vt:lpstr>Business Recommendation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Edison E. Chukwuemeka</dc:creator>
  <cp:lastModifiedBy>Edison E. Chukwuemeka</cp:lastModifiedBy>
  <cp:revision>2</cp:revision>
  <cp:lastPrinted>2026-02-19T08:29:25Z</cp:lastPrinted>
  <dcterms:created xsi:type="dcterms:W3CDTF">2026-02-19T00:29:20Z</dcterms:created>
  <dcterms:modified xsi:type="dcterms:W3CDTF">2026-02-19T18:01:06Z</dcterms:modified>
</cp:coreProperties>
</file>